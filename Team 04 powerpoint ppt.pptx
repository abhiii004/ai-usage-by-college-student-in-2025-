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1430000" cy="6477000"/>
  <p:notesSz cx="11430000" cy="647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9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0CCA1-37FC-40E6-92CF-5BBA66ADF56B}" v="2" dt="2025-11-04T04:04:50.8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28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hanaafrien@gmail.com" userId="018e2ee7e06be0b7" providerId="LiveId" clId="{5E1C7028-EF8B-48D4-8EB5-BAE7C923D230}"/>
    <pc:docChg chg="custSel modSld">
      <pc:chgData name="suhanaafrien@gmail.com" userId="018e2ee7e06be0b7" providerId="LiveId" clId="{5E1C7028-EF8B-48D4-8EB5-BAE7C923D230}" dt="2025-11-04T04:05:09.775" v="158" actId="14100"/>
      <pc:docMkLst>
        <pc:docMk/>
      </pc:docMkLst>
      <pc:sldChg chg="addSp delSp modSp mod modClrScheme chgLayout">
        <pc:chgData name="suhanaafrien@gmail.com" userId="018e2ee7e06be0b7" providerId="LiveId" clId="{5E1C7028-EF8B-48D4-8EB5-BAE7C923D230}" dt="2025-11-04T04:05:09.775" v="158" actId="14100"/>
        <pc:sldMkLst>
          <pc:docMk/>
          <pc:sldMk cId="0" sldId="256"/>
        </pc:sldMkLst>
        <pc:spChg chg="mod ord">
          <ac:chgData name="suhanaafrien@gmail.com" userId="018e2ee7e06be0b7" providerId="LiveId" clId="{5E1C7028-EF8B-48D4-8EB5-BAE7C923D230}" dt="2025-11-04T04:01:50.288" v="18" actId="14100"/>
          <ac:spMkLst>
            <pc:docMk/>
            <pc:sldMk cId="0" sldId="256"/>
            <ac:spMk id="7" creationId="{00000000-0000-0000-0000-000000000000}"/>
          </ac:spMkLst>
        </pc:spChg>
        <pc:spChg chg="mod ord">
          <ac:chgData name="suhanaafrien@gmail.com" userId="018e2ee7e06be0b7" providerId="LiveId" clId="{5E1C7028-EF8B-48D4-8EB5-BAE7C923D230}" dt="2025-11-04T04:04:04.723" v="151" actId="20577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suhanaafrien@gmail.com" userId="018e2ee7e06be0b7" providerId="LiveId" clId="{5E1C7028-EF8B-48D4-8EB5-BAE7C923D230}" dt="2025-11-04T03:58:33.708" v="5" actId="2085"/>
          <ac:spMkLst>
            <pc:docMk/>
            <pc:sldMk cId="0" sldId="256"/>
            <ac:spMk id="18" creationId="{6D22BB06-286A-561B-A548-E5BEDED60890}"/>
          </ac:spMkLst>
        </pc:spChg>
        <pc:picChg chg="del mod">
          <ac:chgData name="suhanaafrien@gmail.com" userId="018e2ee7e06be0b7" providerId="LiveId" clId="{5E1C7028-EF8B-48D4-8EB5-BAE7C923D230}" dt="2025-11-04T04:01:23.712" v="14" actId="21"/>
          <ac:picMkLst>
            <pc:docMk/>
            <pc:sldMk cId="0" sldId="256"/>
            <ac:picMk id="17" creationId="{50F640F2-93FE-02EC-DEC2-B452F88FE9C3}"/>
          </ac:picMkLst>
        </pc:picChg>
        <pc:picChg chg="add mod">
          <ac:chgData name="suhanaafrien@gmail.com" userId="018e2ee7e06be0b7" providerId="LiveId" clId="{5E1C7028-EF8B-48D4-8EB5-BAE7C923D230}" dt="2025-11-04T04:05:09.775" v="158" actId="14100"/>
          <ac:picMkLst>
            <pc:docMk/>
            <pc:sldMk cId="0" sldId="256"/>
            <ac:picMk id="20" creationId="{9BE1F347-A6FA-6EBF-CEC7-D5E986A8F278}"/>
          </ac:picMkLst>
        </pc:picChg>
      </pc:sldChg>
      <pc:sldChg chg="addSp modSp mod">
        <pc:chgData name="suhanaafrien@gmail.com" userId="018e2ee7e06be0b7" providerId="LiveId" clId="{5E1C7028-EF8B-48D4-8EB5-BAE7C923D230}" dt="2025-11-04T03:58:54.732" v="8" actId="2085"/>
        <pc:sldMkLst>
          <pc:docMk/>
          <pc:sldMk cId="0" sldId="262"/>
        </pc:sldMkLst>
        <pc:spChg chg="add mod">
          <ac:chgData name="suhanaafrien@gmail.com" userId="018e2ee7e06be0b7" providerId="LiveId" clId="{5E1C7028-EF8B-48D4-8EB5-BAE7C923D230}" dt="2025-11-04T03:58:54.732" v="8" actId="2085"/>
          <ac:spMkLst>
            <pc:docMk/>
            <pc:sldMk cId="0" sldId="262"/>
            <ac:spMk id="18" creationId="{8E641C28-9451-16C3-DB9D-864C9E1856C5}"/>
          </ac:spMkLst>
        </pc:spChg>
        <pc:picChg chg="add mod">
          <ac:chgData name="suhanaafrien@gmail.com" userId="018e2ee7e06be0b7" providerId="LiveId" clId="{5E1C7028-EF8B-48D4-8EB5-BAE7C923D230}" dt="2025-11-04T03:58:05.962" v="2" actId="962"/>
          <ac:picMkLst>
            <pc:docMk/>
            <pc:sldMk cId="0" sldId="262"/>
            <ac:picMk id="17" creationId="{5019DC7B-6E5F-412A-A197-E965497C5A9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1846" y="477170"/>
            <a:ext cx="10080623" cy="1319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28095" y="2645251"/>
            <a:ext cx="5461000" cy="2253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hyperlink" Target="https://gamma.app/?utm_source=made-with-gamm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25"/>
            <a:ext cx="11430000" cy="6429375"/>
            <a:chOff x="0" y="9525"/>
            <a:chExt cx="11430000" cy="6429375"/>
          </a:xfrm>
        </p:grpSpPr>
        <p:sp>
          <p:nvSpPr>
            <p:cNvPr id="3" name="object 3"/>
            <p:cNvSpPr/>
            <p:nvPr/>
          </p:nvSpPr>
          <p:spPr>
            <a:xfrm>
              <a:off x="4286250" y="9525"/>
              <a:ext cx="7143750" cy="6429375"/>
            </a:xfrm>
            <a:custGeom>
              <a:avLst/>
              <a:gdLst/>
              <a:ahLst/>
              <a:cxnLst/>
              <a:rect l="l" t="t" r="r" b="b"/>
              <a:pathLst>
                <a:path w="7143750" h="6429375">
                  <a:moveTo>
                    <a:pt x="0" y="6429375"/>
                  </a:moveTo>
                  <a:lnTo>
                    <a:pt x="7143750" y="6429375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6429375"/>
                  </a:lnTo>
                  <a:close/>
                </a:path>
              </a:pathLst>
            </a:custGeom>
            <a:solidFill>
              <a:srgbClr val="0C093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525"/>
              <a:ext cx="4286250" cy="6429375"/>
            </a:xfrm>
            <a:custGeom>
              <a:avLst/>
              <a:gdLst/>
              <a:ahLst/>
              <a:cxnLst/>
              <a:rect l="l" t="t" r="r" b="b"/>
              <a:pathLst>
                <a:path w="4286250" h="6429375">
                  <a:moveTo>
                    <a:pt x="4286250" y="0"/>
                  </a:moveTo>
                  <a:lnTo>
                    <a:pt x="0" y="0"/>
                  </a:lnTo>
                  <a:lnTo>
                    <a:pt x="0" y="6429375"/>
                  </a:lnTo>
                  <a:lnTo>
                    <a:pt x="4286250" y="6429375"/>
                  </a:lnTo>
                  <a:lnTo>
                    <a:pt x="4286250" y="0"/>
                  </a:lnTo>
                  <a:close/>
                </a:path>
              </a:pathLst>
            </a:custGeom>
            <a:solidFill>
              <a:srgbClr val="4D4D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19300" y="3031337"/>
              <a:ext cx="321945" cy="236220"/>
            </a:xfrm>
            <a:custGeom>
              <a:avLst/>
              <a:gdLst/>
              <a:ahLst/>
              <a:cxnLst/>
              <a:rect l="l" t="t" r="r" b="b"/>
              <a:pathLst>
                <a:path w="321944" h="236220">
                  <a:moveTo>
                    <a:pt x="278612" y="0"/>
                  </a:moveTo>
                  <a:lnTo>
                    <a:pt x="42862" y="0"/>
                  </a:lnTo>
                  <a:lnTo>
                    <a:pt x="26188" y="3371"/>
                  </a:lnTo>
                  <a:lnTo>
                    <a:pt x="12563" y="12563"/>
                  </a:lnTo>
                  <a:lnTo>
                    <a:pt x="3371" y="26188"/>
                  </a:lnTo>
                  <a:lnTo>
                    <a:pt x="0" y="42862"/>
                  </a:lnTo>
                  <a:lnTo>
                    <a:pt x="0" y="192874"/>
                  </a:lnTo>
                  <a:lnTo>
                    <a:pt x="3371" y="209543"/>
                  </a:lnTo>
                  <a:lnTo>
                    <a:pt x="12563" y="223169"/>
                  </a:lnTo>
                  <a:lnTo>
                    <a:pt x="26188" y="232363"/>
                  </a:lnTo>
                  <a:lnTo>
                    <a:pt x="42862" y="235737"/>
                  </a:lnTo>
                  <a:lnTo>
                    <a:pt x="278612" y="235737"/>
                  </a:lnTo>
                  <a:lnTo>
                    <a:pt x="295280" y="232363"/>
                  </a:lnTo>
                  <a:lnTo>
                    <a:pt x="308906" y="223169"/>
                  </a:lnTo>
                  <a:lnTo>
                    <a:pt x="318101" y="209543"/>
                  </a:lnTo>
                  <a:lnTo>
                    <a:pt x="321475" y="192874"/>
                  </a:lnTo>
                  <a:lnTo>
                    <a:pt x="63487" y="192874"/>
                  </a:lnTo>
                  <a:lnTo>
                    <a:pt x="57861" y="189318"/>
                  </a:lnTo>
                  <a:lnTo>
                    <a:pt x="52501" y="178206"/>
                  </a:lnTo>
                  <a:lnTo>
                    <a:pt x="53238" y="171577"/>
                  </a:lnTo>
                  <a:lnTo>
                    <a:pt x="99987" y="113182"/>
                  </a:lnTo>
                  <a:lnTo>
                    <a:pt x="103009" y="109359"/>
                  </a:lnTo>
                  <a:lnTo>
                    <a:pt x="107619" y="107149"/>
                  </a:lnTo>
                  <a:lnTo>
                    <a:pt x="150332" y="107149"/>
                  </a:lnTo>
                  <a:lnTo>
                    <a:pt x="164614" y="85725"/>
                  </a:lnTo>
                  <a:lnTo>
                    <a:pt x="82880" y="85725"/>
                  </a:lnTo>
                  <a:lnTo>
                    <a:pt x="80149" y="85178"/>
                  </a:lnTo>
                  <a:lnTo>
                    <a:pt x="64300" y="67132"/>
                  </a:lnTo>
                  <a:lnTo>
                    <a:pt x="64300" y="61442"/>
                  </a:lnTo>
                  <a:lnTo>
                    <a:pt x="82880" y="42862"/>
                  </a:lnTo>
                  <a:lnTo>
                    <a:pt x="321475" y="42862"/>
                  </a:lnTo>
                  <a:lnTo>
                    <a:pt x="318101" y="26188"/>
                  </a:lnTo>
                  <a:lnTo>
                    <a:pt x="308906" y="12563"/>
                  </a:lnTo>
                  <a:lnTo>
                    <a:pt x="295280" y="3371"/>
                  </a:lnTo>
                  <a:lnTo>
                    <a:pt x="278612" y="0"/>
                  </a:lnTo>
                  <a:close/>
                </a:path>
                <a:path w="321944" h="236220">
                  <a:moveTo>
                    <a:pt x="321475" y="64287"/>
                  </a:moveTo>
                  <a:lnTo>
                    <a:pt x="192887" y="64287"/>
                  </a:lnTo>
                  <a:lnTo>
                    <a:pt x="197904" y="66967"/>
                  </a:lnTo>
                  <a:lnTo>
                    <a:pt x="200914" y="71450"/>
                  </a:lnTo>
                  <a:lnTo>
                    <a:pt x="268490" y="172783"/>
                  </a:lnTo>
                  <a:lnTo>
                    <a:pt x="268782" y="178206"/>
                  </a:lnTo>
                  <a:lnTo>
                    <a:pt x="268833" y="179146"/>
                  </a:lnTo>
                  <a:lnTo>
                    <a:pt x="263207" y="189585"/>
                  </a:lnTo>
                  <a:lnTo>
                    <a:pt x="257771" y="192874"/>
                  </a:lnTo>
                  <a:lnTo>
                    <a:pt x="321475" y="192874"/>
                  </a:lnTo>
                  <a:lnTo>
                    <a:pt x="321475" y="64287"/>
                  </a:lnTo>
                  <a:close/>
                </a:path>
                <a:path w="321944" h="236220">
                  <a:moveTo>
                    <a:pt x="150332" y="107149"/>
                  </a:moveTo>
                  <a:lnTo>
                    <a:pt x="117398" y="107149"/>
                  </a:lnTo>
                  <a:lnTo>
                    <a:pt x="121958" y="109359"/>
                  </a:lnTo>
                  <a:lnTo>
                    <a:pt x="136626" y="127711"/>
                  </a:lnTo>
                  <a:lnTo>
                    <a:pt x="150332" y="107149"/>
                  </a:lnTo>
                  <a:close/>
                </a:path>
                <a:path w="321944" h="236220">
                  <a:moveTo>
                    <a:pt x="321475" y="42862"/>
                  </a:moveTo>
                  <a:lnTo>
                    <a:pt x="88569" y="42862"/>
                  </a:lnTo>
                  <a:lnTo>
                    <a:pt x="91300" y="43395"/>
                  </a:lnTo>
                  <a:lnTo>
                    <a:pt x="96545" y="45580"/>
                  </a:lnTo>
                  <a:lnTo>
                    <a:pt x="107162" y="61442"/>
                  </a:lnTo>
                  <a:lnTo>
                    <a:pt x="107162" y="67132"/>
                  </a:lnTo>
                  <a:lnTo>
                    <a:pt x="88569" y="85725"/>
                  </a:lnTo>
                  <a:lnTo>
                    <a:pt x="164614" y="85725"/>
                  </a:lnTo>
                  <a:lnTo>
                    <a:pt x="174129" y="71450"/>
                  </a:lnTo>
                  <a:lnTo>
                    <a:pt x="177028" y="67132"/>
                  </a:lnTo>
                  <a:lnTo>
                    <a:pt x="177139" y="66967"/>
                  </a:lnTo>
                  <a:lnTo>
                    <a:pt x="182168" y="64287"/>
                  </a:lnTo>
                  <a:lnTo>
                    <a:pt x="321475" y="64287"/>
                  </a:lnTo>
                  <a:lnTo>
                    <a:pt x="321475" y="42862"/>
                  </a:lnTo>
                  <a:close/>
                </a:path>
              </a:pathLst>
            </a:custGeom>
            <a:solidFill>
              <a:srgbClr val="65656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5012" y="3074200"/>
              <a:ext cx="333375" cy="257175"/>
            </a:xfrm>
            <a:custGeom>
              <a:avLst/>
              <a:gdLst/>
              <a:ahLst/>
              <a:cxnLst/>
              <a:rect l="l" t="t" r="r" b="b"/>
              <a:pathLst>
                <a:path w="333375" h="257175">
                  <a:moveTo>
                    <a:pt x="24968" y="0"/>
                  </a:moveTo>
                  <a:lnTo>
                    <a:pt x="7162" y="0"/>
                  </a:lnTo>
                  <a:lnTo>
                    <a:pt x="0" y="7162"/>
                  </a:lnTo>
                  <a:lnTo>
                    <a:pt x="0" y="166090"/>
                  </a:lnTo>
                  <a:lnTo>
                    <a:pt x="7157" y="201539"/>
                  </a:lnTo>
                  <a:lnTo>
                    <a:pt x="26676" y="230492"/>
                  </a:lnTo>
                  <a:lnTo>
                    <a:pt x="55624" y="250015"/>
                  </a:lnTo>
                  <a:lnTo>
                    <a:pt x="91071" y="257175"/>
                  </a:lnTo>
                  <a:lnTo>
                    <a:pt x="314299" y="257175"/>
                  </a:lnTo>
                  <a:lnTo>
                    <a:pt x="321446" y="250015"/>
                  </a:lnTo>
                  <a:lnTo>
                    <a:pt x="321462" y="232181"/>
                  </a:lnTo>
                  <a:lnTo>
                    <a:pt x="314299" y="225018"/>
                  </a:lnTo>
                  <a:lnTo>
                    <a:pt x="91071" y="225018"/>
                  </a:lnTo>
                  <a:lnTo>
                    <a:pt x="68132" y="220388"/>
                  </a:lnTo>
                  <a:lnTo>
                    <a:pt x="49401" y="207760"/>
                  </a:lnTo>
                  <a:lnTo>
                    <a:pt x="36773" y="189030"/>
                  </a:lnTo>
                  <a:lnTo>
                    <a:pt x="32143" y="166090"/>
                  </a:lnTo>
                  <a:lnTo>
                    <a:pt x="32143" y="7162"/>
                  </a:lnTo>
                  <a:lnTo>
                    <a:pt x="24968" y="0"/>
                  </a:lnTo>
                  <a:close/>
                </a:path>
                <a:path w="333375" h="257175">
                  <a:moveTo>
                    <a:pt x="181686" y="64287"/>
                  </a:moveTo>
                  <a:lnTo>
                    <a:pt x="171907" y="64287"/>
                  </a:lnTo>
                  <a:lnTo>
                    <a:pt x="167297" y="66497"/>
                  </a:lnTo>
                  <a:lnTo>
                    <a:pt x="164274" y="70319"/>
                  </a:lnTo>
                  <a:lnTo>
                    <a:pt x="117525" y="128714"/>
                  </a:lnTo>
                  <a:lnTo>
                    <a:pt x="116789" y="135343"/>
                  </a:lnTo>
                  <a:lnTo>
                    <a:pt x="122148" y="146456"/>
                  </a:lnTo>
                  <a:lnTo>
                    <a:pt x="127774" y="150012"/>
                  </a:lnTo>
                  <a:lnTo>
                    <a:pt x="322059" y="150012"/>
                  </a:lnTo>
                  <a:lnTo>
                    <a:pt x="327494" y="146723"/>
                  </a:lnTo>
                  <a:lnTo>
                    <a:pt x="333121" y="136283"/>
                  </a:lnTo>
                  <a:lnTo>
                    <a:pt x="332778" y="129921"/>
                  </a:lnTo>
                  <a:lnTo>
                    <a:pt x="302711" y="84848"/>
                  </a:lnTo>
                  <a:lnTo>
                    <a:pt x="200914" y="84848"/>
                  </a:lnTo>
                  <a:lnTo>
                    <a:pt x="186245" y="66497"/>
                  </a:lnTo>
                  <a:lnTo>
                    <a:pt x="181686" y="64287"/>
                  </a:lnTo>
                  <a:close/>
                </a:path>
                <a:path w="333375" h="257175">
                  <a:moveTo>
                    <a:pt x="257175" y="21424"/>
                  </a:moveTo>
                  <a:lnTo>
                    <a:pt x="246456" y="21424"/>
                  </a:lnTo>
                  <a:lnTo>
                    <a:pt x="241427" y="24104"/>
                  </a:lnTo>
                  <a:lnTo>
                    <a:pt x="238417" y="28587"/>
                  </a:lnTo>
                  <a:lnTo>
                    <a:pt x="200914" y="84848"/>
                  </a:lnTo>
                  <a:lnTo>
                    <a:pt x="302711" y="84848"/>
                  </a:lnTo>
                  <a:lnTo>
                    <a:pt x="265201" y="28587"/>
                  </a:lnTo>
                  <a:lnTo>
                    <a:pt x="262191" y="24104"/>
                  </a:lnTo>
                  <a:lnTo>
                    <a:pt x="257175" y="21424"/>
                  </a:lnTo>
                  <a:close/>
                </a:path>
              </a:pathLst>
            </a:custGeom>
            <a:solidFill>
              <a:srgbClr val="6565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43400" y="342900"/>
            <a:ext cx="7086600" cy="1089657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5"/>
              </a:spcBef>
            </a:pPr>
            <a:r>
              <a:rPr sz="3450" spc="335" dirty="0"/>
              <a:t>AI</a:t>
            </a:r>
            <a:r>
              <a:rPr sz="3450" spc="-200" dirty="0"/>
              <a:t> </a:t>
            </a:r>
            <a:r>
              <a:rPr sz="3450" spc="360" dirty="0"/>
              <a:t>Adoption</a:t>
            </a:r>
            <a:r>
              <a:rPr sz="3450" spc="-200" dirty="0"/>
              <a:t> </a:t>
            </a:r>
            <a:r>
              <a:rPr sz="3450" spc="240" dirty="0"/>
              <a:t>&amp;</a:t>
            </a:r>
            <a:r>
              <a:rPr sz="3450" spc="-200" dirty="0"/>
              <a:t> </a:t>
            </a:r>
            <a:r>
              <a:rPr sz="3450" spc="345" dirty="0"/>
              <a:t>Student </a:t>
            </a:r>
            <a:r>
              <a:rPr sz="3450" spc="280" dirty="0"/>
              <a:t>Insiąhts</a:t>
            </a:r>
            <a:r>
              <a:rPr sz="3450" spc="-180" dirty="0"/>
              <a:t> </a:t>
            </a:r>
            <a:r>
              <a:rPr sz="3450" spc="484" dirty="0"/>
              <a:t>Dashboard</a:t>
            </a:r>
            <a:endParaRPr sz="3450" dirty="0"/>
          </a:p>
        </p:txBody>
      </p:sp>
      <p:sp>
        <p:nvSpPr>
          <p:cNvPr id="8" name="object 8"/>
          <p:cNvSpPr txBox="1">
            <a:spLocks noGrp="1"/>
          </p:cNvSpPr>
          <p:nvPr>
            <p:ph type="body" idx="4294967295"/>
          </p:nvPr>
        </p:nvSpPr>
        <p:spPr>
          <a:xfrm>
            <a:off x="4413252" y="1947075"/>
            <a:ext cx="5461000" cy="52470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1703070">
              <a:lnSpc>
                <a:spcPts val="3450"/>
              </a:lnSpc>
              <a:spcBef>
                <a:spcPts val="110"/>
              </a:spcBef>
            </a:pPr>
            <a:r>
              <a:rPr spc="280" dirty="0"/>
              <a:t>Presented</a:t>
            </a:r>
            <a:r>
              <a:rPr spc="-145" dirty="0"/>
              <a:t> </a:t>
            </a:r>
            <a:r>
              <a:rPr spc="345" dirty="0"/>
              <a:t>by</a:t>
            </a:r>
            <a:r>
              <a:rPr spc="-260" dirty="0"/>
              <a:t> </a:t>
            </a:r>
            <a:r>
              <a:rPr spc="390" dirty="0"/>
              <a:t>Team </a:t>
            </a:r>
            <a:r>
              <a:rPr spc="385" dirty="0"/>
              <a:t>DataWizards</a:t>
            </a: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Dataset:</a:t>
            </a:r>
            <a:r>
              <a:rPr sz="1450" b="0" spc="-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1450" b="0" spc="3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Student</a:t>
            </a:r>
            <a:r>
              <a:rPr sz="1450" b="0" spc="3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Engagement</a:t>
            </a:r>
            <a:r>
              <a:rPr sz="1450" b="0" spc="3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spc="-20" dirty="0">
                <a:solidFill>
                  <a:srgbClr val="D9E1FF"/>
                </a:solidFill>
                <a:latin typeface="Arial MT"/>
                <a:cs typeface="Arial MT"/>
              </a:rPr>
              <a:t>Study</a:t>
            </a:r>
            <a:endParaRPr sz="14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 dirty="0">
              <a:latin typeface="Arial MT"/>
              <a:cs typeface="Arial MT"/>
            </a:endParaRP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A</a:t>
            </a:r>
            <a:r>
              <a:rPr sz="1450" b="0" spc="-8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data-driven</a:t>
            </a:r>
            <a:r>
              <a:rPr sz="1450" b="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approach</a:t>
            </a:r>
            <a:r>
              <a:rPr sz="1450" b="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to</a:t>
            </a:r>
            <a:r>
              <a:rPr sz="1450" b="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understanding</a:t>
            </a:r>
            <a:r>
              <a:rPr sz="1450" b="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450" b="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evolving</a:t>
            </a:r>
            <a:r>
              <a:rPr sz="1450" b="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spc="-10" dirty="0">
                <a:solidFill>
                  <a:srgbClr val="D9E1FF"/>
                </a:solidFill>
                <a:latin typeface="Arial MT"/>
                <a:cs typeface="Arial MT"/>
              </a:rPr>
              <a:t>relationship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between</a:t>
            </a:r>
            <a:r>
              <a:rPr sz="1450" b="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students</a:t>
            </a:r>
            <a:r>
              <a:rPr sz="1450" b="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and artificial</a:t>
            </a:r>
            <a:r>
              <a:rPr sz="1450" b="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intelligence</a:t>
            </a:r>
            <a:r>
              <a:rPr sz="1450" b="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dirty="0">
                <a:solidFill>
                  <a:srgbClr val="D9E1FF"/>
                </a:solidFill>
                <a:latin typeface="Arial MT"/>
                <a:cs typeface="Arial MT"/>
              </a:rPr>
              <a:t>in higher</a:t>
            </a:r>
            <a:r>
              <a:rPr sz="1450" b="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b="0" spc="-10" dirty="0">
                <a:solidFill>
                  <a:srgbClr val="D9E1FF"/>
                </a:solidFill>
                <a:latin typeface="Arial MT"/>
                <a:cs typeface="Arial MT"/>
              </a:rPr>
              <a:t>education.</a:t>
            </a:r>
            <a:endParaRPr lang="en-US" sz="1450" b="0" spc="-10" dirty="0">
              <a:solidFill>
                <a:srgbClr val="D9E1FF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endParaRPr lang="en-IN" sz="1450" b="0" spc="-10" dirty="0">
              <a:solidFill>
                <a:srgbClr val="D9E1FF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Presentation by:</a:t>
            </a: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Dibya </a:t>
            </a:r>
            <a:r>
              <a:rPr lang="en-IN" sz="1450" b="0" spc="-10" dirty="0" err="1">
                <a:solidFill>
                  <a:srgbClr val="D9E1FF"/>
                </a:solidFill>
                <a:latin typeface="Arial MT"/>
                <a:cs typeface="Arial MT"/>
              </a:rPr>
              <a:t>singh</a:t>
            </a: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 panda 15</a:t>
            </a: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r>
              <a:rPr lang="en-IN" sz="1450" b="0" spc="-10" dirty="0" err="1">
                <a:solidFill>
                  <a:srgbClr val="D9E1FF"/>
                </a:solidFill>
                <a:latin typeface="Arial MT"/>
                <a:cs typeface="Arial MT"/>
              </a:rPr>
              <a:t>Deebyasa</a:t>
            </a: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lang="en-IN" sz="1450" b="0" spc="-10" dirty="0" err="1">
                <a:solidFill>
                  <a:srgbClr val="D9E1FF"/>
                </a:solidFill>
                <a:latin typeface="Arial MT"/>
                <a:cs typeface="Arial MT"/>
              </a:rPr>
              <a:t>parida</a:t>
            </a: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 62</a:t>
            </a: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Suhana </a:t>
            </a:r>
            <a:r>
              <a:rPr lang="en-IN" sz="1450" b="0" spc="-10" dirty="0" err="1">
                <a:solidFill>
                  <a:srgbClr val="D9E1FF"/>
                </a:solidFill>
                <a:latin typeface="Arial MT"/>
                <a:cs typeface="Arial MT"/>
              </a:rPr>
              <a:t>afrien</a:t>
            </a: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 86</a:t>
            </a: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Abhishek </a:t>
            </a:r>
            <a:r>
              <a:rPr lang="en-IN" sz="1450" b="0" spc="-10" dirty="0" err="1">
                <a:solidFill>
                  <a:srgbClr val="D9E1FF"/>
                </a:solidFill>
                <a:latin typeface="Arial MT"/>
                <a:cs typeface="Arial MT"/>
              </a:rPr>
              <a:t>pahanta</a:t>
            </a: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lang="en-IN" sz="1450" b="0" spc="-10" dirty="0" err="1">
                <a:solidFill>
                  <a:srgbClr val="D9E1FF"/>
                </a:solidFill>
                <a:latin typeface="Arial MT"/>
                <a:cs typeface="Arial MT"/>
              </a:rPr>
              <a:t>singh</a:t>
            </a: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 87</a:t>
            </a: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D prem </a:t>
            </a:r>
            <a:r>
              <a:rPr lang="en-IN" sz="1450" b="0" spc="-10" dirty="0" err="1">
                <a:solidFill>
                  <a:srgbClr val="D9E1FF"/>
                </a:solidFill>
                <a:latin typeface="Arial MT"/>
                <a:cs typeface="Arial MT"/>
              </a:rPr>
              <a:t>kumar</a:t>
            </a:r>
            <a:r>
              <a:rPr lang="en-IN" sz="1450" b="0" spc="-10" dirty="0">
                <a:solidFill>
                  <a:srgbClr val="D9E1FF"/>
                </a:solidFill>
                <a:latin typeface="Arial MT"/>
                <a:cs typeface="Arial MT"/>
              </a:rPr>
              <a:t> 88</a:t>
            </a: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endParaRPr lang="en-IN" sz="1450" b="0" spc="-10" dirty="0">
              <a:solidFill>
                <a:srgbClr val="D9E1FF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endParaRPr lang="en-IN" sz="1450" b="0" spc="-10" dirty="0">
              <a:solidFill>
                <a:srgbClr val="D9E1FF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33600"/>
              </a:lnSpc>
              <a:spcBef>
                <a:spcPts val="5"/>
              </a:spcBef>
            </a:pPr>
            <a:endParaRPr sz="1450" dirty="0">
              <a:latin typeface="Arial MT"/>
              <a:cs typeface="Arial MT"/>
            </a:endParaRPr>
          </a:p>
        </p:txBody>
      </p:sp>
      <p:pic>
        <p:nvPicPr>
          <p:cNvPr id="9" name="object 9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AFE5CB5-5C89-AE96-031C-BB176AFAA6F9}"/>
              </a:ext>
            </a:extLst>
          </p:cNvPr>
          <p:cNvSpPr/>
          <p:nvPr/>
        </p:nvSpPr>
        <p:spPr>
          <a:xfrm>
            <a:off x="9580244" y="5926072"/>
            <a:ext cx="1754504" cy="419100"/>
          </a:xfrm>
          <a:prstGeom prst="rect">
            <a:avLst/>
          </a:prstGeom>
          <a:solidFill>
            <a:srgbClr val="0C0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22BB06-286A-561B-A548-E5BEDED60890}"/>
              </a:ext>
            </a:extLst>
          </p:cNvPr>
          <p:cNvSpPr/>
          <p:nvPr/>
        </p:nvSpPr>
        <p:spPr>
          <a:xfrm>
            <a:off x="10251300" y="5926072"/>
            <a:ext cx="1178700" cy="512828"/>
          </a:xfrm>
          <a:prstGeom prst="rect">
            <a:avLst/>
          </a:prstGeom>
          <a:solidFill>
            <a:srgbClr val="0C0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E1F347-A6FA-6EBF-CEC7-D5E986A8F2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"/>
            <a:ext cx="428625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804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5"/>
              </a:spcBef>
            </a:pPr>
            <a:r>
              <a:rPr sz="3450" spc="300" dirty="0"/>
              <a:t>Objectives</a:t>
            </a:r>
            <a:r>
              <a:rPr sz="3450" spc="-200" dirty="0"/>
              <a:t> </a:t>
            </a:r>
            <a:r>
              <a:rPr sz="3450" spc="240" dirty="0"/>
              <a:t>&amp;</a:t>
            </a:r>
            <a:r>
              <a:rPr sz="3450" spc="-195" dirty="0"/>
              <a:t> </a:t>
            </a:r>
            <a:r>
              <a:rPr sz="3450" spc="290" dirty="0"/>
              <a:t>Rationale:</a:t>
            </a:r>
            <a:r>
              <a:rPr sz="3450" spc="-200" dirty="0"/>
              <a:t> </a:t>
            </a:r>
            <a:r>
              <a:rPr sz="3450" spc="505" dirty="0"/>
              <a:t>Mappiną</a:t>
            </a:r>
            <a:r>
              <a:rPr sz="3450" spc="-195" dirty="0"/>
              <a:t> </a:t>
            </a:r>
            <a:r>
              <a:rPr sz="3450" spc="280" dirty="0"/>
              <a:t>the</a:t>
            </a:r>
            <a:r>
              <a:rPr sz="3450" spc="-195" dirty="0"/>
              <a:t> </a:t>
            </a:r>
            <a:r>
              <a:rPr sz="3450" spc="345" dirty="0"/>
              <a:t>AI- </a:t>
            </a:r>
            <a:r>
              <a:rPr sz="3450" spc="405" dirty="0"/>
              <a:t>Education</a:t>
            </a:r>
            <a:r>
              <a:rPr sz="3450" spc="-190" dirty="0"/>
              <a:t> </a:t>
            </a:r>
            <a:r>
              <a:rPr sz="3450" spc="490" dirty="0"/>
              <a:t>Landscape</a:t>
            </a:r>
            <a:endParaRPr sz="3450"/>
          </a:p>
        </p:txBody>
      </p:sp>
      <p:grpSp>
        <p:nvGrpSpPr>
          <p:cNvPr id="4" name="object 4"/>
          <p:cNvGrpSpPr/>
          <p:nvPr/>
        </p:nvGrpSpPr>
        <p:grpSpPr>
          <a:xfrm>
            <a:off x="638175" y="2209799"/>
            <a:ext cx="3267075" cy="2266950"/>
            <a:chOff x="638175" y="2209799"/>
            <a:chExt cx="3267075" cy="2266950"/>
          </a:xfrm>
        </p:grpSpPr>
        <p:sp>
          <p:nvSpPr>
            <p:cNvPr id="5" name="object 5"/>
            <p:cNvSpPr/>
            <p:nvPr/>
          </p:nvSpPr>
          <p:spPr>
            <a:xfrm>
              <a:off x="657225" y="2219324"/>
              <a:ext cx="3238500" cy="2247900"/>
            </a:xfrm>
            <a:custGeom>
              <a:avLst/>
              <a:gdLst/>
              <a:ahLst/>
              <a:cxnLst/>
              <a:rect l="l" t="t" r="r" b="b"/>
              <a:pathLst>
                <a:path w="3238500" h="2247900">
                  <a:moveTo>
                    <a:pt x="3226485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2181225"/>
                  </a:lnTo>
                  <a:lnTo>
                    <a:pt x="0" y="2185606"/>
                  </a:lnTo>
                  <a:lnTo>
                    <a:pt x="15622" y="2221903"/>
                  </a:lnTo>
                  <a:lnTo>
                    <a:pt x="51663" y="2244496"/>
                  </a:lnTo>
                  <a:lnTo>
                    <a:pt x="71194" y="2247900"/>
                  </a:lnTo>
                  <a:lnTo>
                    <a:pt x="3226485" y="2247900"/>
                  </a:lnTo>
                  <a:lnTo>
                    <a:pt x="3238500" y="2235885"/>
                  </a:lnTo>
                  <a:lnTo>
                    <a:pt x="3238500" y="12014"/>
                  </a:lnTo>
                  <a:lnTo>
                    <a:pt x="3228251" y="342"/>
                  </a:lnTo>
                  <a:lnTo>
                    <a:pt x="3226485" y="0"/>
                  </a:lnTo>
                  <a:close/>
                </a:path>
              </a:pathLst>
            </a:custGeom>
            <a:solidFill>
              <a:srgbClr val="0C09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8063" y="2209812"/>
              <a:ext cx="3247390" cy="2266950"/>
            </a:xfrm>
            <a:custGeom>
              <a:avLst/>
              <a:gdLst/>
              <a:ahLst/>
              <a:cxnLst/>
              <a:rect l="l" t="t" r="r" b="b"/>
              <a:pathLst>
                <a:path w="3247390" h="2266950">
                  <a:moveTo>
                    <a:pt x="3247174" y="16916"/>
                  </a:moveTo>
                  <a:lnTo>
                    <a:pt x="3244888" y="11417"/>
                  </a:lnTo>
                  <a:lnTo>
                    <a:pt x="3240798" y="7327"/>
                  </a:lnTo>
                  <a:lnTo>
                    <a:pt x="3240328" y="6845"/>
                  </a:lnTo>
                  <a:lnTo>
                    <a:pt x="3235769" y="2286"/>
                  </a:lnTo>
                  <a:lnTo>
                    <a:pt x="3230257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59918" y="20243"/>
                  </a:lnTo>
                  <a:lnTo>
                    <a:pt x="59512" y="20243"/>
                  </a:lnTo>
                  <a:lnTo>
                    <a:pt x="67843" y="19316"/>
                  </a:lnTo>
                  <a:lnTo>
                    <a:pt x="75349" y="19050"/>
                  </a:lnTo>
                  <a:lnTo>
                    <a:pt x="3226676" y="19050"/>
                  </a:lnTo>
                  <a:lnTo>
                    <a:pt x="3227882" y="20243"/>
                  </a:lnTo>
                  <a:lnTo>
                    <a:pt x="3228124" y="20485"/>
                  </a:lnTo>
                  <a:lnTo>
                    <a:pt x="3228124" y="2246452"/>
                  </a:lnTo>
                  <a:lnTo>
                    <a:pt x="3227768" y="2246807"/>
                  </a:lnTo>
                  <a:lnTo>
                    <a:pt x="3227400" y="2247176"/>
                  </a:lnTo>
                  <a:lnTo>
                    <a:pt x="3226676" y="2247900"/>
                  </a:lnTo>
                  <a:lnTo>
                    <a:pt x="75349" y="2247900"/>
                  </a:lnTo>
                  <a:lnTo>
                    <a:pt x="33007" y="2238273"/>
                  </a:lnTo>
                  <a:lnTo>
                    <a:pt x="1092" y="2205621"/>
                  </a:lnTo>
                  <a:lnTo>
                    <a:pt x="0" y="2201507"/>
                  </a:lnTo>
                  <a:lnTo>
                    <a:pt x="609" y="2205621"/>
                  </a:lnTo>
                  <a:lnTo>
                    <a:pt x="2413" y="2212822"/>
                  </a:lnTo>
                  <a:lnTo>
                    <a:pt x="4851" y="2219617"/>
                  </a:lnTo>
                  <a:lnTo>
                    <a:pt x="4953" y="2219909"/>
                  </a:lnTo>
                  <a:lnTo>
                    <a:pt x="33007" y="2254110"/>
                  </a:lnTo>
                  <a:lnTo>
                    <a:pt x="75349" y="2266950"/>
                  </a:lnTo>
                  <a:lnTo>
                    <a:pt x="3230257" y="2266950"/>
                  </a:lnTo>
                  <a:lnTo>
                    <a:pt x="3235769" y="2264664"/>
                  </a:lnTo>
                  <a:lnTo>
                    <a:pt x="3240811" y="2259622"/>
                  </a:lnTo>
                  <a:lnTo>
                    <a:pt x="3244888" y="2255532"/>
                  </a:lnTo>
                  <a:lnTo>
                    <a:pt x="3247174" y="2250033"/>
                  </a:lnTo>
                  <a:lnTo>
                    <a:pt x="3247174" y="16916"/>
                  </a:lnTo>
                  <a:close/>
                </a:path>
              </a:pathLst>
            </a:custGeom>
            <a:solidFill>
              <a:srgbClr val="4341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8175" y="2209799"/>
              <a:ext cx="76200" cy="2266950"/>
            </a:xfrm>
            <a:custGeom>
              <a:avLst/>
              <a:gdLst/>
              <a:ahLst/>
              <a:cxnLst/>
              <a:rect l="l" t="t" r="r" b="b"/>
              <a:pathLst>
                <a:path w="76200" h="2266950">
                  <a:moveTo>
                    <a:pt x="76200" y="0"/>
                  </a:moveTo>
                  <a:lnTo>
                    <a:pt x="20275" y="0"/>
                  </a:lnTo>
                  <a:lnTo>
                    <a:pt x="17293" y="596"/>
                  </a:lnTo>
                  <a:lnTo>
                    <a:pt x="0" y="20281"/>
                  </a:lnTo>
                  <a:lnTo>
                    <a:pt x="0" y="2243569"/>
                  </a:lnTo>
                  <a:lnTo>
                    <a:pt x="0" y="2246668"/>
                  </a:lnTo>
                  <a:lnTo>
                    <a:pt x="20275" y="2266950"/>
                  </a:lnTo>
                  <a:lnTo>
                    <a:pt x="76200" y="2266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7F6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04974" y="2377217"/>
            <a:ext cx="2800985" cy="15595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93040">
              <a:lnSpc>
                <a:spcPts val="2180"/>
              </a:lnSpc>
              <a:spcBef>
                <a:spcPts val="85"/>
              </a:spcBef>
            </a:pPr>
            <a:r>
              <a:rPr sz="1700" b="1" spc="185" dirty="0">
                <a:solidFill>
                  <a:srgbClr val="D9E1FF"/>
                </a:solidFill>
                <a:latin typeface="Trebuchet MS"/>
                <a:cs typeface="Trebuchet MS"/>
              </a:rPr>
              <a:t>Analyze</a:t>
            </a:r>
            <a:r>
              <a:rPr sz="1700" b="1" spc="-7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700" b="1" spc="240" dirty="0">
                <a:solidFill>
                  <a:srgbClr val="D9E1FF"/>
                </a:solidFill>
                <a:latin typeface="Trebuchet MS"/>
                <a:cs typeface="Trebuchet MS"/>
              </a:rPr>
              <a:t>Enąaąement </a:t>
            </a:r>
            <a:r>
              <a:rPr sz="1700" b="1" spc="140" dirty="0">
                <a:solidFill>
                  <a:srgbClr val="D9E1FF"/>
                </a:solidFill>
                <a:latin typeface="Trebuchet MS"/>
                <a:cs typeface="Trebuchet MS"/>
              </a:rPr>
              <a:t>&amp;</a:t>
            </a:r>
            <a:r>
              <a:rPr sz="1700" b="1" spc="-16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700" b="1" spc="100" dirty="0">
                <a:solidFill>
                  <a:srgbClr val="D9E1FF"/>
                </a:solidFill>
                <a:latin typeface="Trebuchet MS"/>
                <a:cs typeface="Trebuchet MS"/>
              </a:rPr>
              <a:t>Trust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35800"/>
              </a:lnSpc>
              <a:spcBef>
                <a:spcPts val="635"/>
              </a:spcBef>
            </a:pPr>
            <a:r>
              <a:rPr sz="1450" spc="-55" dirty="0">
                <a:solidFill>
                  <a:srgbClr val="D9E1FF"/>
                </a:solidFill>
                <a:latin typeface="Arial MT"/>
                <a:cs typeface="Arial MT"/>
              </a:rPr>
              <a:t>To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analyze</a:t>
            </a:r>
            <a:r>
              <a:rPr sz="14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4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depth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of</a:t>
            </a:r>
            <a:r>
              <a:rPr sz="14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student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engagement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45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level</a:t>
            </a:r>
            <a:r>
              <a:rPr sz="145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of</a:t>
            </a:r>
            <a:r>
              <a:rPr sz="145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D9E1FF"/>
                </a:solidFill>
                <a:latin typeface="Arial MT"/>
                <a:cs typeface="Arial MT"/>
              </a:rPr>
              <a:t>trust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they</a:t>
            </a:r>
            <a:r>
              <a:rPr sz="145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place</a:t>
            </a:r>
            <a:r>
              <a:rPr sz="145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in</a:t>
            </a:r>
            <a:r>
              <a:rPr sz="145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various</a:t>
            </a:r>
            <a:r>
              <a:rPr sz="1450" spc="-7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145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tools.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67175" y="2209799"/>
            <a:ext cx="3276600" cy="2266950"/>
            <a:chOff x="4067175" y="2209799"/>
            <a:chExt cx="3276600" cy="2266950"/>
          </a:xfrm>
        </p:grpSpPr>
        <p:sp>
          <p:nvSpPr>
            <p:cNvPr id="10" name="object 10"/>
            <p:cNvSpPr/>
            <p:nvPr/>
          </p:nvSpPr>
          <p:spPr>
            <a:xfrm>
              <a:off x="4086225" y="2219324"/>
              <a:ext cx="3248025" cy="2247900"/>
            </a:xfrm>
            <a:custGeom>
              <a:avLst/>
              <a:gdLst/>
              <a:ahLst/>
              <a:cxnLst/>
              <a:rect l="l" t="t" r="r" b="b"/>
              <a:pathLst>
                <a:path w="3248025" h="2247900">
                  <a:moveTo>
                    <a:pt x="3236010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2181225"/>
                  </a:lnTo>
                  <a:lnTo>
                    <a:pt x="0" y="2185606"/>
                  </a:lnTo>
                  <a:lnTo>
                    <a:pt x="15621" y="2221903"/>
                  </a:lnTo>
                  <a:lnTo>
                    <a:pt x="51663" y="2244496"/>
                  </a:lnTo>
                  <a:lnTo>
                    <a:pt x="71196" y="2247900"/>
                  </a:lnTo>
                  <a:lnTo>
                    <a:pt x="3236010" y="2247900"/>
                  </a:lnTo>
                  <a:lnTo>
                    <a:pt x="3248025" y="2235885"/>
                  </a:lnTo>
                  <a:lnTo>
                    <a:pt x="3248025" y="12014"/>
                  </a:lnTo>
                  <a:lnTo>
                    <a:pt x="3237776" y="342"/>
                  </a:lnTo>
                  <a:lnTo>
                    <a:pt x="3236010" y="0"/>
                  </a:lnTo>
                  <a:close/>
                </a:path>
              </a:pathLst>
            </a:custGeom>
            <a:solidFill>
              <a:srgbClr val="0C09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87063" y="2209812"/>
              <a:ext cx="3256915" cy="2266950"/>
            </a:xfrm>
            <a:custGeom>
              <a:avLst/>
              <a:gdLst/>
              <a:ahLst/>
              <a:cxnLst/>
              <a:rect l="l" t="t" r="r" b="b"/>
              <a:pathLst>
                <a:path w="3256915" h="2266950">
                  <a:moveTo>
                    <a:pt x="3256699" y="16916"/>
                  </a:moveTo>
                  <a:lnTo>
                    <a:pt x="3254413" y="11417"/>
                  </a:lnTo>
                  <a:lnTo>
                    <a:pt x="3250323" y="7327"/>
                  </a:lnTo>
                  <a:lnTo>
                    <a:pt x="3249853" y="6845"/>
                  </a:lnTo>
                  <a:lnTo>
                    <a:pt x="3245294" y="2286"/>
                  </a:lnTo>
                  <a:lnTo>
                    <a:pt x="323978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59918" y="20243"/>
                  </a:lnTo>
                  <a:lnTo>
                    <a:pt x="59512" y="20243"/>
                  </a:lnTo>
                  <a:lnTo>
                    <a:pt x="67843" y="19316"/>
                  </a:lnTo>
                  <a:lnTo>
                    <a:pt x="75349" y="19050"/>
                  </a:lnTo>
                  <a:lnTo>
                    <a:pt x="3236201" y="19050"/>
                  </a:lnTo>
                  <a:lnTo>
                    <a:pt x="3237407" y="20243"/>
                  </a:lnTo>
                  <a:lnTo>
                    <a:pt x="3237649" y="20485"/>
                  </a:lnTo>
                  <a:lnTo>
                    <a:pt x="3237649" y="2246452"/>
                  </a:lnTo>
                  <a:lnTo>
                    <a:pt x="3237293" y="2246807"/>
                  </a:lnTo>
                  <a:lnTo>
                    <a:pt x="3236925" y="2247176"/>
                  </a:lnTo>
                  <a:lnTo>
                    <a:pt x="3236201" y="2247900"/>
                  </a:lnTo>
                  <a:lnTo>
                    <a:pt x="75349" y="2247900"/>
                  </a:lnTo>
                  <a:lnTo>
                    <a:pt x="33007" y="2238273"/>
                  </a:lnTo>
                  <a:lnTo>
                    <a:pt x="1079" y="2205621"/>
                  </a:lnTo>
                  <a:lnTo>
                    <a:pt x="0" y="2201519"/>
                  </a:lnTo>
                  <a:lnTo>
                    <a:pt x="609" y="2205621"/>
                  </a:lnTo>
                  <a:lnTo>
                    <a:pt x="2413" y="2212822"/>
                  </a:lnTo>
                  <a:lnTo>
                    <a:pt x="4851" y="2219617"/>
                  </a:lnTo>
                  <a:lnTo>
                    <a:pt x="4953" y="2219909"/>
                  </a:lnTo>
                  <a:lnTo>
                    <a:pt x="33007" y="2254110"/>
                  </a:lnTo>
                  <a:lnTo>
                    <a:pt x="75349" y="2266950"/>
                  </a:lnTo>
                  <a:lnTo>
                    <a:pt x="3239782" y="2266950"/>
                  </a:lnTo>
                  <a:lnTo>
                    <a:pt x="3245294" y="2264664"/>
                  </a:lnTo>
                  <a:lnTo>
                    <a:pt x="3250336" y="2259622"/>
                  </a:lnTo>
                  <a:lnTo>
                    <a:pt x="3254413" y="2255532"/>
                  </a:lnTo>
                  <a:lnTo>
                    <a:pt x="3256699" y="2250033"/>
                  </a:lnTo>
                  <a:lnTo>
                    <a:pt x="3256699" y="16916"/>
                  </a:lnTo>
                  <a:close/>
                </a:path>
              </a:pathLst>
            </a:custGeom>
            <a:solidFill>
              <a:srgbClr val="4341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67175" y="2209799"/>
              <a:ext cx="76200" cy="2266950"/>
            </a:xfrm>
            <a:custGeom>
              <a:avLst/>
              <a:gdLst/>
              <a:ahLst/>
              <a:cxnLst/>
              <a:rect l="l" t="t" r="r" b="b"/>
              <a:pathLst>
                <a:path w="76200" h="2266950">
                  <a:moveTo>
                    <a:pt x="76200" y="0"/>
                  </a:moveTo>
                  <a:lnTo>
                    <a:pt x="20269" y="0"/>
                  </a:lnTo>
                  <a:lnTo>
                    <a:pt x="17297" y="596"/>
                  </a:lnTo>
                  <a:lnTo>
                    <a:pt x="0" y="20281"/>
                  </a:lnTo>
                  <a:lnTo>
                    <a:pt x="0" y="2243569"/>
                  </a:lnTo>
                  <a:lnTo>
                    <a:pt x="0" y="2246668"/>
                  </a:lnTo>
                  <a:lnTo>
                    <a:pt x="20269" y="2266950"/>
                  </a:lnTo>
                  <a:lnTo>
                    <a:pt x="76200" y="2266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7F6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40821" y="2377217"/>
            <a:ext cx="2745105" cy="18548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57480">
              <a:lnSpc>
                <a:spcPts val="2180"/>
              </a:lnSpc>
              <a:spcBef>
                <a:spcPts val="85"/>
              </a:spcBef>
            </a:pPr>
            <a:r>
              <a:rPr sz="1700" b="1" spc="210" dirty="0">
                <a:solidFill>
                  <a:srgbClr val="D9E1FF"/>
                </a:solidFill>
                <a:latin typeface="Trebuchet MS"/>
                <a:cs typeface="Trebuchet MS"/>
              </a:rPr>
              <a:t>Understand</a:t>
            </a:r>
            <a:r>
              <a:rPr sz="1700" b="1" spc="-7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700" b="1" spc="160" dirty="0">
                <a:solidFill>
                  <a:srgbClr val="D9E1FF"/>
                </a:solidFill>
                <a:latin typeface="Trebuchet MS"/>
                <a:cs typeface="Trebuchet MS"/>
              </a:rPr>
              <a:t>Behavior Patterns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35100"/>
              </a:lnSpc>
              <a:spcBef>
                <a:spcPts val="650"/>
              </a:spcBef>
            </a:pPr>
            <a:r>
              <a:rPr sz="1450" spc="-55" dirty="0">
                <a:solidFill>
                  <a:srgbClr val="D9E1FF"/>
                </a:solidFill>
                <a:latin typeface="Arial MT"/>
                <a:cs typeface="Arial MT"/>
              </a:rPr>
              <a:t>To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 identify consistent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D9E1FF"/>
                </a:solidFill>
                <a:latin typeface="Arial MT"/>
                <a:cs typeface="Arial MT"/>
              </a:rPr>
              <a:t>usage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habits</a:t>
            </a:r>
            <a:r>
              <a:rPr sz="145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45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assess</a:t>
            </a:r>
            <a:r>
              <a:rPr sz="1450" spc="-7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145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literacy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levels</a:t>
            </a:r>
            <a:r>
              <a:rPr sz="145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across</a:t>
            </a:r>
            <a:r>
              <a:rPr sz="145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different</a:t>
            </a:r>
            <a:r>
              <a:rPr sz="145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states</a:t>
            </a:r>
            <a:r>
              <a:rPr sz="145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D9E1FF"/>
                </a:solidFill>
                <a:latin typeface="Arial MT"/>
                <a:cs typeface="Arial MT"/>
              </a:rPr>
              <a:t>and 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institutions.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05700" y="2209799"/>
            <a:ext cx="3267075" cy="2266950"/>
            <a:chOff x="7505700" y="2209799"/>
            <a:chExt cx="3267075" cy="2266950"/>
          </a:xfrm>
        </p:grpSpPr>
        <p:sp>
          <p:nvSpPr>
            <p:cNvPr id="15" name="object 15"/>
            <p:cNvSpPr/>
            <p:nvPr/>
          </p:nvSpPr>
          <p:spPr>
            <a:xfrm>
              <a:off x="7524750" y="2219324"/>
              <a:ext cx="3238500" cy="2247900"/>
            </a:xfrm>
            <a:custGeom>
              <a:avLst/>
              <a:gdLst/>
              <a:ahLst/>
              <a:cxnLst/>
              <a:rect l="l" t="t" r="r" b="b"/>
              <a:pathLst>
                <a:path w="3238500" h="2247900">
                  <a:moveTo>
                    <a:pt x="3226485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2181225"/>
                  </a:lnTo>
                  <a:lnTo>
                    <a:pt x="0" y="2185606"/>
                  </a:lnTo>
                  <a:lnTo>
                    <a:pt x="15621" y="2221903"/>
                  </a:lnTo>
                  <a:lnTo>
                    <a:pt x="51663" y="2244496"/>
                  </a:lnTo>
                  <a:lnTo>
                    <a:pt x="71196" y="2247900"/>
                  </a:lnTo>
                  <a:lnTo>
                    <a:pt x="3226485" y="2247900"/>
                  </a:lnTo>
                  <a:lnTo>
                    <a:pt x="3238500" y="2235885"/>
                  </a:lnTo>
                  <a:lnTo>
                    <a:pt x="3238500" y="12014"/>
                  </a:lnTo>
                  <a:lnTo>
                    <a:pt x="3228251" y="342"/>
                  </a:lnTo>
                  <a:lnTo>
                    <a:pt x="3226485" y="0"/>
                  </a:lnTo>
                  <a:close/>
                </a:path>
              </a:pathLst>
            </a:custGeom>
            <a:solidFill>
              <a:srgbClr val="0C09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25588" y="2209812"/>
              <a:ext cx="3247390" cy="2266950"/>
            </a:xfrm>
            <a:custGeom>
              <a:avLst/>
              <a:gdLst/>
              <a:ahLst/>
              <a:cxnLst/>
              <a:rect l="l" t="t" r="r" b="b"/>
              <a:pathLst>
                <a:path w="3247390" h="2266950">
                  <a:moveTo>
                    <a:pt x="3247174" y="16916"/>
                  </a:moveTo>
                  <a:lnTo>
                    <a:pt x="3244888" y="11417"/>
                  </a:lnTo>
                  <a:lnTo>
                    <a:pt x="3240798" y="7327"/>
                  </a:lnTo>
                  <a:lnTo>
                    <a:pt x="3240328" y="6845"/>
                  </a:lnTo>
                  <a:lnTo>
                    <a:pt x="3235756" y="2286"/>
                  </a:lnTo>
                  <a:lnTo>
                    <a:pt x="3230257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59918" y="20243"/>
                  </a:lnTo>
                  <a:lnTo>
                    <a:pt x="59512" y="20243"/>
                  </a:lnTo>
                  <a:lnTo>
                    <a:pt x="67843" y="19316"/>
                  </a:lnTo>
                  <a:lnTo>
                    <a:pt x="75349" y="19050"/>
                  </a:lnTo>
                  <a:lnTo>
                    <a:pt x="3226676" y="19050"/>
                  </a:lnTo>
                  <a:lnTo>
                    <a:pt x="3227882" y="20243"/>
                  </a:lnTo>
                  <a:lnTo>
                    <a:pt x="3228124" y="20485"/>
                  </a:lnTo>
                  <a:lnTo>
                    <a:pt x="3228124" y="2246452"/>
                  </a:lnTo>
                  <a:lnTo>
                    <a:pt x="3227768" y="2246807"/>
                  </a:lnTo>
                  <a:lnTo>
                    <a:pt x="3227400" y="2247176"/>
                  </a:lnTo>
                  <a:lnTo>
                    <a:pt x="3226676" y="2247900"/>
                  </a:lnTo>
                  <a:lnTo>
                    <a:pt x="75349" y="2247900"/>
                  </a:lnTo>
                  <a:lnTo>
                    <a:pt x="33007" y="2238273"/>
                  </a:lnTo>
                  <a:lnTo>
                    <a:pt x="1079" y="2205621"/>
                  </a:lnTo>
                  <a:lnTo>
                    <a:pt x="0" y="2201519"/>
                  </a:lnTo>
                  <a:lnTo>
                    <a:pt x="609" y="2205621"/>
                  </a:lnTo>
                  <a:lnTo>
                    <a:pt x="2413" y="2212822"/>
                  </a:lnTo>
                  <a:lnTo>
                    <a:pt x="4851" y="2219617"/>
                  </a:lnTo>
                  <a:lnTo>
                    <a:pt x="4953" y="2219909"/>
                  </a:lnTo>
                  <a:lnTo>
                    <a:pt x="33007" y="2254110"/>
                  </a:lnTo>
                  <a:lnTo>
                    <a:pt x="75349" y="2266950"/>
                  </a:lnTo>
                  <a:lnTo>
                    <a:pt x="3230257" y="2266950"/>
                  </a:lnTo>
                  <a:lnTo>
                    <a:pt x="3235756" y="2264664"/>
                  </a:lnTo>
                  <a:lnTo>
                    <a:pt x="3240328" y="2260092"/>
                  </a:lnTo>
                  <a:lnTo>
                    <a:pt x="3240798" y="2259622"/>
                  </a:lnTo>
                  <a:lnTo>
                    <a:pt x="3244888" y="2255532"/>
                  </a:lnTo>
                  <a:lnTo>
                    <a:pt x="3247174" y="2250033"/>
                  </a:lnTo>
                  <a:lnTo>
                    <a:pt x="3247174" y="16916"/>
                  </a:lnTo>
                  <a:close/>
                </a:path>
              </a:pathLst>
            </a:custGeom>
            <a:solidFill>
              <a:srgbClr val="4341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05700" y="2209799"/>
              <a:ext cx="76200" cy="2266950"/>
            </a:xfrm>
            <a:custGeom>
              <a:avLst/>
              <a:gdLst/>
              <a:ahLst/>
              <a:cxnLst/>
              <a:rect l="l" t="t" r="r" b="b"/>
              <a:pathLst>
                <a:path w="76200" h="2266950">
                  <a:moveTo>
                    <a:pt x="76200" y="0"/>
                  </a:moveTo>
                  <a:lnTo>
                    <a:pt x="20269" y="0"/>
                  </a:lnTo>
                  <a:lnTo>
                    <a:pt x="17297" y="596"/>
                  </a:lnTo>
                  <a:lnTo>
                    <a:pt x="0" y="20281"/>
                  </a:lnTo>
                  <a:lnTo>
                    <a:pt x="0" y="2243569"/>
                  </a:lnTo>
                  <a:lnTo>
                    <a:pt x="0" y="2246668"/>
                  </a:lnTo>
                  <a:lnTo>
                    <a:pt x="20269" y="2266950"/>
                  </a:lnTo>
                  <a:lnTo>
                    <a:pt x="76200" y="2266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7F6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76819" y="2377217"/>
            <a:ext cx="2706370" cy="18548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247015">
              <a:lnSpc>
                <a:spcPts val="2180"/>
              </a:lnSpc>
              <a:spcBef>
                <a:spcPts val="85"/>
              </a:spcBef>
            </a:pPr>
            <a:r>
              <a:rPr sz="1700" b="1" spc="245" dirty="0">
                <a:solidFill>
                  <a:srgbClr val="D9E1FF"/>
                </a:solidFill>
                <a:latin typeface="Trebuchet MS"/>
                <a:cs typeface="Trebuchet MS"/>
              </a:rPr>
              <a:t>Measure</a:t>
            </a:r>
            <a:r>
              <a:rPr sz="1700" b="1" spc="-7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700" b="1" spc="130" dirty="0">
                <a:solidFill>
                  <a:srgbClr val="D9E1FF"/>
                </a:solidFill>
                <a:latin typeface="Trebuchet MS"/>
                <a:cs typeface="Trebuchet MS"/>
              </a:rPr>
              <a:t>Inteąration </a:t>
            </a:r>
            <a:r>
              <a:rPr sz="1700" b="1" spc="210" dirty="0">
                <a:solidFill>
                  <a:srgbClr val="D9E1FF"/>
                </a:solidFill>
                <a:latin typeface="Trebuchet MS"/>
                <a:cs typeface="Trebuchet MS"/>
              </a:rPr>
              <a:t>Readiness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35100"/>
              </a:lnSpc>
              <a:spcBef>
                <a:spcPts val="650"/>
              </a:spcBef>
            </a:pPr>
            <a:r>
              <a:rPr sz="1450" spc="-55" dirty="0">
                <a:solidFill>
                  <a:srgbClr val="D9E1FF"/>
                </a:solidFill>
                <a:latin typeface="Arial MT"/>
                <a:cs typeface="Arial MT"/>
              </a:rPr>
              <a:t>To</a:t>
            </a:r>
            <a:r>
              <a:rPr sz="14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quantify the</a:t>
            </a:r>
            <a:r>
              <a:rPr sz="14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readiness of </a:t>
            </a:r>
            <a:r>
              <a:rPr sz="1450" spc="-25" dirty="0">
                <a:solidFill>
                  <a:srgbClr val="D9E1FF"/>
                </a:solidFill>
                <a:latin typeface="Arial MT"/>
                <a:cs typeface="Arial MT"/>
              </a:rPr>
              <a:t>the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student body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educational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infrastructure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to</a:t>
            </a:r>
            <a:r>
              <a:rPr sz="145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fully</a:t>
            </a:r>
            <a:r>
              <a:rPr sz="145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integrate</a:t>
            </a:r>
            <a:r>
              <a:rPr sz="1450" spc="-7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D9E1FF"/>
                </a:solidFill>
                <a:latin typeface="Arial MT"/>
                <a:cs typeface="Arial MT"/>
              </a:rPr>
              <a:t>AI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into</a:t>
            </a:r>
            <a:r>
              <a:rPr sz="14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4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learning 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process.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2238" y="4825293"/>
            <a:ext cx="9772650" cy="63500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The rationale is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to provide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educators and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policymakers</a:t>
            </a:r>
            <a:r>
              <a:rPr sz="14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with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actionable insights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to identify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adoption barriers</a:t>
            </a:r>
            <a:r>
              <a:rPr sz="14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and 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create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450" dirty="0">
                <a:solidFill>
                  <a:srgbClr val="6137C8"/>
                </a:solidFill>
                <a:latin typeface="Arial MT"/>
                <a:cs typeface="Arial MT"/>
              </a:rPr>
              <a:t>targeted</a:t>
            </a:r>
            <a:r>
              <a:rPr sz="1450" spc="25" dirty="0">
                <a:solidFill>
                  <a:srgbClr val="6137C8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6137C8"/>
                </a:solidFill>
                <a:latin typeface="Arial MT"/>
                <a:cs typeface="Arial MT"/>
              </a:rPr>
              <a:t>strategies</a:t>
            </a:r>
            <a:r>
              <a:rPr sz="1450" spc="25" dirty="0">
                <a:solidFill>
                  <a:srgbClr val="6137C8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for</a:t>
            </a:r>
            <a:r>
              <a:rPr sz="145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equitable</a:t>
            </a:r>
            <a:r>
              <a:rPr sz="1450" spc="-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145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D9E1FF"/>
                </a:solidFill>
                <a:latin typeface="Arial MT"/>
                <a:cs typeface="Arial MT"/>
              </a:rPr>
              <a:t>integration.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7225" y="4686301"/>
            <a:ext cx="19050" cy="1019175"/>
          </a:xfrm>
          <a:custGeom>
            <a:avLst/>
            <a:gdLst/>
            <a:ahLst/>
            <a:cxnLst/>
            <a:rect l="l" t="t" r="r" b="b"/>
            <a:pathLst>
              <a:path w="19050" h="1019175">
                <a:moveTo>
                  <a:pt x="19050" y="0"/>
                </a:moveTo>
                <a:lnTo>
                  <a:pt x="0" y="0"/>
                </a:lnTo>
                <a:lnTo>
                  <a:pt x="0" y="1019175"/>
                </a:lnTo>
                <a:lnTo>
                  <a:pt x="19050" y="1019175"/>
                </a:lnTo>
                <a:lnTo>
                  <a:pt x="19050" y="0"/>
                </a:lnTo>
                <a:close/>
              </a:path>
            </a:pathLst>
          </a:custGeom>
          <a:solidFill>
            <a:srgbClr val="7F6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6C84A9E-A348-CA2A-75CA-800FBBF04930}"/>
              </a:ext>
            </a:extLst>
          </p:cNvPr>
          <p:cNvSpPr/>
          <p:nvPr/>
        </p:nvSpPr>
        <p:spPr>
          <a:xfrm>
            <a:off x="9580244" y="5705476"/>
            <a:ext cx="1754504" cy="635000"/>
          </a:xfrm>
          <a:prstGeom prst="rect">
            <a:avLst/>
          </a:prstGeom>
          <a:solidFill>
            <a:srgbClr val="0C0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260840" cy="6436360"/>
          </a:xfrm>
          <a:custGeom>
            <a:avLst/>
            <a:gdLst/>
            <a:ahLst/>
            <a:cxnLst/>
            <a:rect l="l" t="t" r="r" b="b"/>
            <a:pathLst>
              <a:path w="9260840" h="6436360">
                <a:moveTo>
                  <a:pt x="9260578" y="0"/>
                </a:moveTo>
                <a:lnTo>
                  <a:pt x="0" y="0"/>
                </a:lnTo>
                <a:lnTo>
                  <a:pt x="0" y="6436102"/>
                </a:lnTo>
                <a:lnTo>
                  <a:pt x="9260578" y="6436102"/>
                </a:lnTo>
                <a:lnTo>
                  <a:pt x="9260578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7613" y="388437"/>
            <a:ext cx="534479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295" dirty="0"/>
              <a:t>Data</a:t>
            </a:r>
            <a:r>
              <a:rPr sz="1800" spc="-85" dirty="0"/>
              <a:t> </a:t>
            </a:r>
            <a:r>
              <a:rPr sz="1800" spc="190" dirty="0"/>
              <a:t>Understandiną</a:t>
            </a:r>
            <a:r>
              <a:rPr sz="1800" spc="-80" dirty="0"/>
              <a:t> </a:t>
            </a:r>
            <a:r>
              <a:rPr sz="1800" spc="140" dirty="0"/>
              <a:t>&amp;</a:t>
            </a:r>
            <a:r>
              <a:rPr sz="1800" spc="-80" dirty="0"/>
              <a:t> </a:t>
            </a:r>
            <a:r>
              <a:rPr sz="1800" spc="195" dirty="0"/>
              <a:t>Cleaniną</a:t>
            </a:r>
            <a:r>
              <a:rPr sz="1800" spc="-80" dirty="0"/>
              <a:t> </a:t>
            </a:r>
            <a:r>
              <a:rPr sz="1800" spc="275" dirty="0"/>
              <a:t>Summary</a:t>
            </a:r>
            <a:endParaRPr sz="1800"/>
          </a:p>
        </p:txBody>
      </p:sp>
      <p:sp>
        <p:nvSpPr>
          <p:cNvPr id="4" name="object 4"/>
          <p:cNvSpPr/>
          <p:nvPr/>
        </p:nvSpPr>
        <p:spPr>
          <a:xfrm>
            <a:off x="532483" y="1296481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5" h="31115">
                <a:moveTo>
                  <a:pt x="17479" y="0"/>
                </a:moveTo>
                <a:lnTo>
                  <a:pt x="13388" y="0"/>
                </a:lnTo>
                <a:lnTo>
                  <a:pt x="11419" y="391"/>
                </a:lnTo>
                <a:lnTo>
                  <a:pt x="0" y="13386"/>
                </a:lnTo>
                <a:lnTo>
                  <a:pt x="0" y="17481"/>
                </a:lnTo>
                <a:lnTo>
                  <a:pt x="13388" y="30868"/>
                </a:lnTo>
                <a:lnTo>
                  <a:pt x="17479" y="30868"/>
                </a:lnTo>
                <a:lnTo>
                  <a:pt x="30868" y="17481"/>
                </a:lnTo>
                <a:lnTo>
                  <a:pt x="30868" y="15434"/>
                </a:lnTo>
                <a:lnTo>
                  <a:pt x="30868" y="13386"/>
                </a:lnTo>
                <a:lnTo>
                  <a:pt x="19449" y="391"/>
                </a:lnTo>
                <a:lnTo>
                  <a:pt x="17479" y="0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6826" y="1234743"/>
            <a:ext cx="748665" cy="139065"/>
          </a:xfrm>
          <a:custGeom>
            <a:avLst/>
            <a:gdLst/>
            <a:ahLst/>
            <a:cxnLst/>
            <a:rect l="l" t="t" r="r" b="b"/>
            <a:pathLst>
              <a:path w="748665" h="139065">
                <a:moveTo>
                  <a:pt x="737882" y="0"/>
                </a:moveTo>
                <a:lnTo>
                  <a:pt x="10679" y="0"/>
                </a:lnTo>
                <a:lnTo>
                  <a:pt x="9108" y="308"/>
                </a:lnTo>
                <a:lnTo>
                  <a:pt x="0" y="10680"/>
                </a:lnTo>
                <a:lnTo>
                  <a:pt x="0" y="126602"/>
                </a:lnTo>
                <a:lnTo>
                  <a:pt x="0" y="128228"/>
                </a:lnTo>
                <a:lnTo>
                  <a:pt x="10679" y="138908"/>
                </a:lnTo>
                <a:lnTo>
                  <a:pt x="737882" y="138908"/>
                </a:lnTo>
                <a:lnTo>
                  <a:pt x="748563" y="128228"/>
                </a:lnTo>
                <a:lnTo>
                  <a:pt x="748563" y="10680"/>
                </a:lnTo>
                <a:lnTo>
                  <a:pt x="739457" y="308"/>
                </a:lnTo>
                <a:lnTo>
                  <a:pt x="737882" y="0"/>
                </a:lnTo>
                <a:close/>
              </a:path>
            </a:pathLst>
          </a:custGeom>
          <a:solidFill>
            <a:srgbClr val="181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2483" y="1497126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5" h="31115">
                <a:moveTo>
                  <a:pt x="17479" y="0"/>
                </a:moveTo>
                <a:lnTo>
                  <a:pt x="13388" y="0"/>
                </a:lnTo>
                <a:lnTo>
                  <a:pt x="11419" y="391"/>
                </a:lnTo>
                <a:lnTo>
                  <a:pt x="0" y="13386"/>
                </a:lnTo>
                <a:lnTo>
                  <a:pt x="0" y="17481"/>
                </a:lnTo>
                <a:lnTo>
                  <a:pt x="13388" y="30868"/>
                </a:lnTo>
                <a:lnTo>
                  <a:pt x="17479" y="30868"/>
                </a:lnTo>
                <a:lnTo>
                  <a:pt x="30868" y="17481"/>
                </a:lnTo>
                <a:lnTo>
                  <a:pt x="30868" y="15434"/>
                </a:lnTo>
                <a:lnTo>
                  <a:pt x="30868" y="13386"/>
                </a:lnTo>
                <a:lnTo>
                  <a:pt x="19449" y="391"/>
                </a:lnTo>
                <a:lnTo>
                  <a:pt x="17479" y="0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826" y="1435389"/>
            <a:ext cx="841375" cy="139065"/>
          </a:xfrm>
          <a:custGeom>
            <a:avLst/>
            <a:gdLst/>
            <a:ahLst/>
            <a:cxnLst/>
            <a:rect l="l" t="t" r="r" b="b"/>
            <a:pathLst>
              <a:path w="841375" h="139065">
                <a:moveTo>
                  <a:pt x="830488" y="0"/>
                </a:moveTo>
                <a:lnTo>
                  <a:pt x="10679" y="0"/>
                </a:lnTo>
                <a:lnTo>
                  <a:pt x="9108" y="308"/>
                </a:lnTo>
                <a:lnTo>
                  <a:pt x="0" y="10680"/>
                </a:lnTo>
                <a:lnTo>
                  <a:pt x="0" y="126602"/>
                </a:lnTo>
                <a:lnTo>
                  <a:pt x="0" y="128228"/>
                </a:lnTo>
                <a:lnTo>
                  <a:pt x="10679" y="138908"/>
                </a:lnTo>
                <a:lnTo>
                  <a:pt x="830488" y="138908"/>
                </a:lnTo>
                <a:lnTo>
                  <a:pt x="841169" y="128228"/>
                </a:lnTo>
                <a:lnTo>
                  <a:pt x="841169" y="10680"/>
                </a:lnTo>
                <a:lnTo>
                  <a:pt x="832063" y="308"/>
                </a:lnTo>
                <a:lnTo>
                  <a:pt x="830488" y="0"/>
                </a:lnTo>
                <a:close/>
              </a:path>
            </a:pathLst>
          </a:custGeom>
          <a:solidFill>
            <a:srgbClr val="181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2483" y="1690055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5" h="31114">
                <a:moveTo>
                  <a:pt x="17479" y="0"/>
                </a:moveTo>
                <a:lnTo>
                  <a:pt x="13388" y="0"/>
                </a:lnTo>
                <a:lnTo>
                  <a:pt x="11419" y="391"/>
                </a:lnTo>
                <a:lnTo>
                  <a:pt x="0" y="13386"/>
                </a:lnTo>
                <a:lnTo>
                  <a:pt x="0" y="17481"/>
                </a:lnTo>
                <a:lnTo>
                  <a:pt x="13388" y="30868"/>
                </a:lnTo>
                <a:lnTo>
                  <a:pt x="17479" y="30868"/>
                </a:lnTo>
                <a:lnTo>
                  <a:pt x="30868" y="17481"/>
                </a:lnTo>
                <a:lnTo>
                  <a:pt x="30868" y="15434"/>
                </a:lnTo>
                <a:lnTo>
                  <a:pt x="30868" y="13386"/>
                </a:lnTo>
                <a:lnTo>
                  <a:pt x="19449" y="391"/>
                </a:lnTo>
                <a:lnTo>
                  <a:pt x="17479" y="0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6826" y="1628318"/>
            <a:ext cx="741045" cy="139065"/>
          </a:xfrm>
          <a:custGeom>
            <a:avLst/>
            <a:gdLst/>
            <a:ahLst/>
            <a:cxnLst/>
            <a:rect l="l" t="t" r="r" b="b"/>
            <a:pathLst>
              <a:path w="741044" h="139064">
                <a:moveTo>
                  <a:pt x="730165" y="0"/>
                </a:moveTo>
                <a:lnTo>
                  <a:pt x="10679" y="0"/>
                </a:lnTo>
                <a:lnTo>
                  <a:pt x="9108" y="308"/>
                </a:lnTo>
                <a:lnTo>
                  <a:pt x="0" y="10680"/>
                </a:lnTo>
                <a:lnTo>
                  <a:pt x="0" y="126602"/>
                </a:lnTo>
                <a:lnTo>
                  <a:pt x="0" y="128228"/>
                </a:lnTo>
                <a:lnTo>
                  <a:pt x="10679" y="138908"/>
                </a:lnTo>
                <a:lnTo>
                  <a:pt x="730165" y="138908"/>
                </a:lnTo>
                <a:lnTo>
                  <a:pt x="740846" y="128228"/>
                </a:lnTo>
                <a:lnTo>
                  <a:pt x="740846" y="10680"/>
                </a:lnTo>
                <a:lnTo>
                  <a:pt x="731740" y="308"/>
                </a:lnTo>
                <a:lnTo>
                  <a:pt x="730165" y="0"/>
                </a:lnTo>
                <a:close/>
              </a:path>
            </a:pathLst>
          </a:custGeom>
          <a:solidFill>
            <a:srgbClr val="181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2483" y="1890701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5" h="31114">
                <a:moveTo>
                  <a:pt x="17479" y="0"/>
                </a:moveTo>
                <a:lnTo>
                  <a:pt x="13388" y="0"/>
                </a:lnTo>
                <a:lnTo>
                  <a:pt x="11419" y="391"/>
                </a:lnTo>
                <a:lnTo>
                  <a:pt x="0" y="13386"/>
                </a:lnTo>
                <a:lnTo>
                  <a:pt x="0" y="17481"/>
                </a:lnTo>
                <a:lnTo>
                  <a:pt x="13388" y="30868"/>
                </a:lnTo>
                <a:lnTo>
                  <a:pt x="17479" y="30868"/>
                </a:lnTo>
                <a:lnTo>
                  <a:pt x="30868" y="17481"/>
                </a:lnTo>
                <a:lnTo>
                  <a:pt x="30868" y="15434"/>
                </a:lnTo>
                <a:lnTo>
                  <a:pt x="30868" y="13386"/>
                </a:lnTo>
                <a:lnTo>
                  <a:pt x="19449" y="391"/>
                </a:lnTo>
                <a:lnTo>
                  <a:pt x="17479" y="0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6826" y="1828964"/>
            <a:ext cx="633095" cy="139065"/>
          </a:xfrm>
          <a:custGeom>
            <a:avLst/>
            <a:gdLst/>
            <a:ahLst/>
            <a:cxnLst/>
            <a:rect l="l" t="t" r="r" b="b"/>
            <a:pathLst>
              <a:path w="633094" h="139064">
                <a:moveTo>
                  <a:pt x="622125" y="0"/>
                </a:moveTo>
                <a:lnTo>
                  <a:pt x="10679" y="0"/>
                </a:lnTo>
                <a:lnTo>
                  <a:pt x="9108" y="308"/>
                </a:lnTo>
                <a:lnTo>
                  <a:pt x="0" y="10680"/>
                </a:lnTo>
                <a:lnTo>
                  <a:pt x="0" y="126602"/>
                </a:lnTo>
                <a:lnTo>
                  <a:pt x="0" y="128228"/>
                </a:lnTo>
                <a:lnTo>
                  <a:pt x="10679" y="138908"/>
                </a:lnTo>
                <a:lnTo>
                  <a:pt x="622125" y="138908"/>
                </a:lnTo>
                <a:lnTo>
                  <a:pt x="632806" y="128228"/>
                </a:lnTo>
                <a:lnTo>
                  <a:pt x="632806" y="10680"/>
                </a:lnTo>
                <a:lnTo>
                  <a:pt x="623699" y="308"/>
                </a:lnTo>
                <a:lnTo>
                  <a:pt x="622125" y="0"/>
                </a:lnTo>
                <a:close/>
              </a:path>
            </a:pathLst>
          </a:custGeom>
          <a:solidFill>
            <a:srgbClr val="181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17510" y="928714"/>
            <a:ext cx="4274820" cy="1727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110" dirty="0">
                <a:solidFill>
                  <a:srgbClr val="FFFFFF"/>
                </a:solidFill>
                <a:latin typeface="Trebuchet MS"/>
                <a:cs typeface="Trebuchet MS"/>
              </a:rPr>
              <a:t>Source</a:t>
            </a:r>
            <a:r>
              <a:rPr sz="11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80" dirty="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r>
              <a:rPr sz="11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100" dirty="0">
                <a:solidFill>
                  <a:srgbClr val="FFFFFF"/>
                </a:solidFill>
                <a:latin typeface="Trebuchet MS"/>
                <a:cs typeface="Trebuchet MS"/>
              </a:rPr>
              <a:t>Analyzed</a:t>
            </a:r>
            <a:endParaRPr sz="1100">
              <a:latin typeface="Trebuchet MS"/>
              <a:cs typeface="Trebuchet MS"/>
            </a:endParaRPr>
          </a:p>
          <a:p>
            <a:pPr marL="170180" marR="650240">
              <a:lnSpc>
                <a:spcPct val="173300"/>
              </a:lnSpc>
              <a:spcBef>
                <a:spcPts val="434"/>
              </a:spcBef>
            </a:pPr>
            <a:r>
              <a:rPr sz="750" dirty="0">
                <a:solidFill>
                  <a:srgbClr val="D9E1FF"/>
                </a:solidFill>
                <a:latin typeface="Lucida Sans Unicode"/>
                <a:cs typeface="Lucida Sans Unicode"/>
              </a:rPr>
              <a:t>awareness_level</a:t>
            </a:r>
            <a:r>
              <a:rPr sz="750" spc="15" dirty="0">
                <a:solidFill>
                  <a:srgbClr val="D9E1FF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(Self-reported</a:t>
            </a:r>
            <a:r>
              <a:rPr sz="750" spc="5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familiarity</a:t>
            </a:r>
            <a:r>
              <a:rPr sz="750" spc="5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with</a:t>
            </a:r>
            <a:r>
              <a:rPr sz="7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750" spc="5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concepts</a:t>
            </a:r>
            <a:r>
              <a:rPr sz="750" spc="5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750" spc="4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D9E1FF"/>
                </a:solidFill>
                <a:latin typeface="Arial MT"/>
                <a:cs typeface="Arial MT"/>
              </a:rPr>
              <a:t>tools). </a:t>
            </a:r>
            <a:r>
              <a:rPr sz="750" spc="-10" dirty="0">
                <a:solidFill>
                  <a:srgbClr val="D9E1FF"/>
                </a:solidFill>
                <a:latin typeface="Lucida Sans Unicode"/>
                <a:cs typeface="Lucida Sans Unicode"/>
              </a:rPr>
              <a:t>daily_usage_hours</a:t>
            </a:r>
            <a:r>
              <a:rPr sz="750" spc="20" dirty="0">
                <a:solidFill>
                  <a:srgbClr val="D9E1FF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(Quantified</a:t>
            </a:r>
            <a:r>
              <a:rPr sz="750" spc="5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daily</a:t>
            </a:r>
            <a:r>
              <a:rPr sz="750" spc="5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interaction</a:t>
            </a:r>
            <a:r>
              <a:rPr sz="750" spc="5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time</a:t>
            </a:r>
            <a:r>
              <a:rPr sz="750" spc="5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with</a:t>
            </a:r>
            <a:r>
              <a:rPr sz="750" spc="5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generative</a:t>
            </a:r>
            <a:r>
              <a:rPr sz="7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750" spc="5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D9E1FF"/>
                </a:solidFill>
                <a:latin typeface="Arial MT"/>
                <a:cs typeface="Arial MT"/>
              </a:rPr>
              <a:t>tools). </a:t>
            </a:r>
            <a:r>
              <a:rPr sz="750" spc="-20" dirty="0">
                <a:solidFill>
                  <a:srgbClr val="D9E1FF"/>
                </a:solidFill>
                <a:latin typeface="Lucida Sans Unicode"/>
                <a:cs typeface="Lucida Sans Unicode"/>
              </a:rPr>
              <a:t>trust_in_ai_tools</a:t>
            </a:r>
            <a:r>
              <a:rPr sz="750" spc="25" dirty="0">
                <a:solidFill>
                  <a:srgbClr val="D9E1FF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(Student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confidence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in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reliability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fairness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of</a:t>
            </a:r>
            <a:r>
              <a:rPr sz="75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D9E1FF"/>
                </a:solidFill>
                <a:latin typeface="Arial MT"/>
                <a:cs typeface="Arial MT"/>
              </a:rPr>
              <a:t>AI).</a:t>
            </a:r>
            <a:r>
              <a:rPr sz="7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D9E1FF"/>
                </a:solidFill>
                <a:latin typeface="Lucida Sans Unicode"/>
                <a:cs typeface="Lucida Sans Unicode"/>
              </a:rPr>
              <a:t>college_name</a:t>
            </a:r>
            <a:r>
              <a:rPr sz="750" spc="30" dirty="0">
                <a:solidFill>
                  <a:srgbClr val="D9E1FF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(Institutional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context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for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cross-referencing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policy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D9E1FF"/>
                </a:solidFill>
                <a:latin typeface="Arial MT"/>
                <a:cs typeface="Arial MT"/>
              </a:rPr>
              <a:t>resources).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spc="165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100" b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90" dirty="0">
                <a:solidFill>
                  <a:srgbClr val="FFFFFF"/>
                </a:solidFill>
                <a:latin typeface="Trebuchet MS"/>
                <a:cs typeface="Trebuchet MS"/>
              </a:rPr>
              <a:t>Transformation</a:t>
            </a:r>
            <a:r>
              <a:rPr sz="11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110" dirty="0">
                <a:solidFill>
                  <a:srgbClr val="FFFFFF"/>
                </a:solidFill>
                <a:latin typeface="Trebuchet MS"/>
                <a:cs typeface="Trebuchet MS"/>
              </a:rPr>
              <a:t>Process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35000"/>
              </a:lnSpc>
              <a:spcBef>
                <a:spcPts val="720"/>
              </a:spcBef>
            </a:pP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Missing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values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were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systematically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imputed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using</a:t>
            </a:r>
            <a:r>
              <a:rPr sz="750" spc="7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column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averages,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inconsistent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text</a:t>
            </a:r>
            <a:r>
              <a:rPr sz="750" spc="7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D9E1FF"/>
                </a:solidFill>
                <a:latin typeface="Arial MT"/>
                <a:cs typeface="Arial MT"/>
              </a:rPr>
              <a:t>formats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were</a:t>
            </a:r>
            <a:r>
              <a:rPr sz="750" spc="5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standardized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to</a:t>
            </a:r>
            <a:r>
              <a:rPr sz="750" spc="5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ensure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data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quality</a:t>
            </a:r>
            <a:r>
              <a:rPr sz="750" spc="5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D9E1FF"/>
                </a:solidFill>
                <a:latin typeface="Arial MT"/>
                <a:cs typeface="Arial MT"/>
              </a:rPr>
              <a:t>reliability.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8207" y="964643"/>
            <a:ext cx="2315144" cy="231514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167318" y="3367333"/>
            <a:ext cx="2722245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85" dirty="0">
                <a:solidFill>
                  <a:srgbClr val="FFFFFF"/>
                </a:solidFill>
                <a:latin typeface="Trebuchet MS"/>
                <a:cs typeface="Trebuchet MS"/>
              </a:rPr>
              <a:t>Derived</a:t>
            </a:r>
            <a:r>
              <a:rPr sz="11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100" dirty="0">
                <a:solidFill>
                  <a:srgbClr val="FFFFFF"/>
                </a:solidFill>
                <a:latin typeface="Trebuchet MS"/>
                <a:cs typeface="Trebuchet MS"/>
              </a:rPr>
              <a:t>Metrics</a:t>
            </a:r>
            <a:r>
              <a:rPr sz="11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55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1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105" dirty="0">
                <a:solidFill>
                  <a:srgbClr val="FFFFFF"/>
                </a:solidFill>
                <a:latin typeface="Trebuchet MS"/>
                <a:cs typeface="Trebuchet MS"/>
              </a:rPr>
              <a:t>Deeper</a:t>
            </a:r>
            <a:r>
              <a:rPr sz="11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8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78207" y="3673362"/>
            <a:ext cx="3557904" cy="1149985"/>
            <a:chOff x="5178207" y="3673362"/>
            <a:chExt cx="3557904" cy="1149985"/>
          </a:xfrm>
        </p:grpSpPr>
        <p:sp>
          <p:nvSpPr>
            <p:cNvPr id="16" name="object 16"/>
            <p:cNvSpPr/>
            <p:nvPr/>
          </p:nvSpPr>
          <p:spPr>
            <a:xfrm>
              <a:off x="5178207" y="3673362"/>
              <a:ext cx="3557904" cy="1149985"/>
            </a:xfrm>
            <a:custGeom>
              <a:avLst/>
              <a:gdLst/>
              <a:ahLst/>
              <a:cxnLst/>
              <a:rect l="l" t="t" r="r" b="b"/>
              <a:pathLst>
                <a:path w="3557904" h="1149985">
                  <a:moveTo>
                    <a:pt x="3546925" y="0"/>
                  </a:moveTo>
                  <a:lnTo>
                    <a:pt x="10680" y="0"/>
                  </a:lnTo>
                  <a:lnTo>
                    <a:pt x="9106" y="308"/>
                  </a:lnTo>
                  <a:lnTo>
                    <a:pt x="0" y="10680"/>
                  </a:lnTo>
                  <a:lnTo>
                    <a:pt x="0" y="1137548"/>
                  </a:lnTo>
                  <a:lnTo>
                    <a:pt x="0" y="1139174"/>
                  </a:lnTo>
                  <a:lnTo>
                    <a:pt x="10680" y="1149855"/>
                  </a:lnTo>
                  <a:lnTo>
                    <a:pt x="3546925" y="1149855"/>
                  </a:lnTo>
                  <a:lnTo>
                    <a:pt x="3557605" y="1139174"/>
                  </a:lnTo>
                  <a:lnTo>
                    <a:pt x="3557605" y="10680"/>
                  </a:lnTo>
                  <a:lnTo>
                    <a:pt x="3548499" y="308"/>
                  </a:lnTo>
                  <a:lnTo>
                    <a:pt x="3546925" y="0"/>
                  </a:lnTo>
                  <a:close/>
                </a:path>
              </a:pathLst>
            </a:custGeom>
            <a:solidFill>
              <a:srgbClr val="2B2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78530" y="3773685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146625" y="0"/>
                  </a:moveTo>
                  <a:lnTo>
                    <a:pt x="104060" y="6312"/>
                  </a:lnTo>
                  <a:lnTo>
                    <a:pt x="65163" y="24715"/>
                  </a:lnTo>
                  <a:lnTo>
                    <a:pt x="33280" y="53604"/>
                  </a:lnTo>
                  <a:lnTo>
                    <a:pt x="11164" y="90517"/>
                  </a:lnTo>
                  <a:lnTo>
                    <a:pt x="703" y="132253"/>
                  </a:lnTo>
                  <a:lnTo>
                    <a:pt x="0" y="146625"/>
                  </a:lnTo>
                  <a:lnTo>
                    <a:pt x="175" y="153830"/>
                  </a:lnTo>
                  <a:lnTo>
                    <a:pt x="8569" y="196014"/>
                  </a:lnTo>
                  <a:lnTo>
                    <a:pt x="28859" y="233979"/>
                  </a:lnTo>
                  <a:lnTo>
                    <a:pt x="59271" y="264396"/>
                  </a:lnTo>
                  <a:lnTo>
                    <a:pt x="97236" y="284680"/>
                  </a:lnTo>
                  <a:lnTo>
                    <a:pt x="139421" y="293075"/>
                  </a:lnTo>
                  <a:lnTo>
                    <a:pt x="146625" y="293251"/>
                  </a:lnTo>
                  <a:lnTo>
                    <a:pt x="153831" y="293075"/>
                  </a:lnTo>
                  <a:lnTo>
                    <a:pt x="196014" y="284680"/>
                  </a:lnTo>
                  <a:lnTo>
                    <a:pt x="233978" y="264396"/>
                  </a:lnTo>
                  <a:lnTo>
                    <a:pt x="264392" y="233979"/>
                  </a:lnTo>
                  <a:lnTo>
                    <a:pt x="284682" y="196014"/>
                  </a:lnTo>
                  <a:lnTo>
                    <a:pt x="293075" y="153830"/>
                  </a:lnTo>
                  <a:lnTo>
                    <a:pt x="293251" y="146625"/>
                  </a:lnTo>
                  <a:lnTo>
                    <a:pt x="293075" y="139421"/>
                  </a:lnTo>
                  <a:lnTo>
                    <a:pt x="284682" y="97236"/>
                  </a:lnTo>
                  <a:lnTo>
                    <a:pt x="264392" y="59271"/>
                  </a:lnTo>
                  <a:lnTo>
                    <a:pt x="233978" y="28859"/>
                  </a:lnTo>
                  <a:lnTo>
                    <a:pt x="196014" y="8569"/>
                  </a:lnTo>
                  <a:lnTo>
                    <a:pt x="153831" y="175"/>
                  </a:lnTo>
                  <a:lnTo>
                    <a:pt x="146625" y="0"/>
                  </a:lnTo>
                  <a:close/>
                </a:path>
              </a:pathLst>
            </a:custGeom>
            <a:solidFill>
              <a:srgbClr val="7F6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3508" y="3847819"/>
              <a:ext cx="132647" cy="13886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265706" y="4146765"/>
            <a:ext cx="2908300" cy="562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20" dirty="0">
                <a:solidFill>
                  <a:srgbClr val="D9E1FF"/>
                </a:solidFill>
                <a:latin typeface="Trebuchet MS"/>
                <a:cs typeface="Trebuchet MS"/>
              </a:rPr>
              <a:t>Enąaąement</a:t>
            </a:r>
            <a:r>
              <a:rPr sz="900" b="1" spc="-1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900" b="1" spc="65" dirty="0">
                <a:solidFill>
                  <a:srgbClr val="D9E1FF"/>
                </a:solidFill>
                <a:latin typeface="Trebuchet MS"/>
                <a:cs typeface="Trebuchet MS"/>
              </a:rPr>
              <a:t>Index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41800"/>
              </a:lnSpc>
              <a:spcBef>
                <a:spcPts val="580"/>
              </a:spcBef>
            </a:pP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 composite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score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combining</a:t>
            </a:r>
            <a:r>
              <a:rPr sz="750" spc="5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usage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frequency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breadth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of</a:t>
            </a:r>
            <a:r>
              <a:rPr sz="750" spc="5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D9E1FF"/>
                </a:solidFill>
                <a:latin typeface="Arial MT"/>
                <a:cs typeface="Arial MT"/>
              </a:rPr>
              <a:t>tool</a:t>
            </a:r>
            <a:r>
              <a:rPr sz="750" spc="-10" dirty="0">
                <a:solidFill>
                  <a:srgbClr val="D9E1FF"/>
                </a:solidFill>
                <a:latin typeface="Arial MT"/>
                <a:cs typeface="Arial MT"/>
              </a:rPr>
              <a:t> application.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78207" y="4923540"/>
            <a:ext cx="3557904" cy="988060"/>
            <a:chOff x="5178207" y="4923540"/>
            <a:chExt cx="3557904" cy="988060"/>
          </a:xfrm>
        </p:grpSpPr>
        <p:sp>
          <p:nvSpPr>
            <p:cNvPr id="21" name="object 21"/>
            <p:cNvSpPr/>
            <p:nvPr/>
          </p:nvSpPr>
          <p:spPr>
            <a:xfrm>
              <a:off x="5178207" y="4923540"/>
              <a:ext cx="3557904" cy="988060"/>
            </a:xfrm>
            <a:custGeom>
              <a:avLst/>
              <a:gdLst/>
              <a:ahLst/>
              <a:cxnLst/>
              <a:rect l="l" t="t" r="r" b="b"/>
              <a:pathLst>
                <a:path w="3557904" h="988060">
                  <a:moveTo>
                    <a:pt x="3546925" y="0"/>
                  </a:moveTo>
                  <a:lnTo>
                    <a:pt x="10680" y="0"/>
                  </a:lnTo>
                  <a:lnTo>
                    <a:pt x="9106" y="308"/>
                  </a:lnTo>
                  <a:lnTo>
                    <a:pt x="0" y="10680"/>
                  </a:lnTo>
                  <a:lnTo>
                    <a:pt x="0" y="975484"/>
                  </a:lnTo>
                  <a:lnTo>
                    <a:pt x="0" y="977116"/>
                  </a:lnTo>
                  <a:lnTo>
                    <a:pt x="10680" y="987796"/>
                  </a:lnTo>
                  <a:lnTo>
                    <a:pt x="3546925" y="987796"/>
                  </a:lnTo>
                  <a:lnTo>
                    <a:pt x="3557605" y="977116"/>
                  </a:lnTo>
                  <a:lnTo>
                    <a:pt x="3557605" y="10680"/>
                  </a:lnTo>
                  <a:lnTo>
                    <a:pt x="3548499" y="308"/>
                  </a:lnTo>
                  <a:lnTo>
                    <a:pt x="3546925" y="0"/>
                  </a:lnTo>
                  <a:close/>
                </a:path>
              </a:pathLst>
            </a:custGeom>
            <a:solidFill>
              <a:srgbClr val="2B2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78530" y="5016146"/>
              <a:ext cx="293370" cy="300990"/>
            </a:xfrm>
            <a:custGeom>
              <a:avLst/>
              <a:gdLst/>
              <a:ahLst/>
              <a:cxnLst/>
              <a:rect l="l" t="t" r="r" b="b"/>
              <a:pathLst>
                <a:path w="293370" h="300989">
                  <a:moveTo>
                    <a:pt x="146625" y="0"/>
                  </a:moveTo>
                  <a:lnTo>
                    <a:pt x="104060" y="6311"/>
                  </a:lnTo>
                  <a:lnTo>
                    <a:pt x="65163" y="24715"/>
                  </a:lnTo>
                  <a:lnTo>
                    <a:pt x="33280" y="53604"/>
                  </a:lnTo>
                  <a:lnTo>
                    <a:pt x="11164" y="90517"/>
                  </a:lnTo>
                  <a:lnTo>
                    <a:pt x="703" y="132257"/>
                  </a:lnTo>
                  <a:lnTo>
                    <a:pt x="0" y="146625"/>
                  </a:lnTo>
                  <a:lnTo>
                    <a:pt x="0" y="154342"/>
                  </a:lnTo>
                  <a:lnTo>
                    <a:pt x="6312" y="196908"/>
                  </a:lnTo>
                  <a:lnTo>
                    <a:pt x="24715" y="235805"/>
                  </a:lnTo>
                  <a:lnTo>
                    <a:pt x="53604" y="267688"/>
                  </a:lnTo>
                  <a:lnTo>
                    <a:pt x="90517" y="289804"/>
                  </a:lnTo>
                  <a:lnTo>
                    <a:pt x="132253" y="300265"/>
                  </a:lnTo>
                  <a:lnTo>
                    <a:pt x="146625" y="300968"/>
                  </a:lnTo>
                  <a:lnTo>
                    <a:pt x="153831" y="300793"/>
                  </a:lnTo>
                  <a:lnTo>
                    <a:pt x="196014" y="292397"/>
                  </a:lnTo>
                  <a:lnTo>
                    <a:pt x="233978" y="272109"/>
                  </a:lnTo>
                  <a:lnTo>
                    <a:pt x="264392" y="241697"/>
                  </a:lnTo>
                  <a:lnTo>
                    <a:pt x="284682" y="203732"/>
                  </a:lnTo>
                  <a:lnTo>
                    <a:pt x="293075" y="161547"/>
                  </a:lnTo>
                  <a:lnTo>
                    <a:pt x="293251" y="154342"/>
                  </a:lnTo>
                  <a:lnTo>
                    <a:pt x="293251" y="146625"/>
                  </a:lnTo>
                  <a:lnTo>
                    <a:pt x="286939" y="104060"/>
                  </a:lnTo>
                  <a:lnTo>
                    <a:pt x="268536" y="65163"/>
                  </a:lnTo>
                  <a:lnTo>
                    <a:pt x="239643" y="33280"/>
                  </a:lnTo>
                  <a:lnTo>
                    <a:pt x="202734" y="11153"/>
                  </a:lnTo>
                  <a:lnTo>
                    <a:pt x="161001" y="703"/>
                  </a:lnTo>
                  <a:lnTo>
                    <a:pt x="146625" y="0"/>
                  </a:lnTo>
                  <a:close/>
                </a:path>
              </a:pathLst>
            </a:custGeom>
            <a:solidFill>
              <a:srgbClr val="7F6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3459" y="5101035"/>
              <a:ext cx="135798" cy="13579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265706" y="5389228"/>
            <a:ext cx="3159760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10" dirty="0">
                <a:solidFill>
                  <a:srgbClr val="D9E1FF"/>
                </a:solidFill>
                <a:latin typeface="Trebuchet MS"/>
                <a:cs typeface="Trebuchet MS"/>
              </a:rPr>
              <a:t>Readiness</a:t>
            </a:r>
            <a:r>
              <a:rPr sz="900" b="1" spc="-30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900" b="1" spc="80" dirty="0">
                <a:solidFill>
                  <a:srgbClr val="D9E1FF"/>
                </a:solidFill>
                <a:latin typeface="Trebuchet MS"/>
                <a:cs typeface="Trebuchet MS"/>
              </a:rPr>
              <a:t>Score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Measured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preparedness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for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integrating AI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based</a:t>
            </a:r>
            <a:r>
              <a:rPr sz="750" spc="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on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literacy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750" spc="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D9E1FF"/>
                </a:solidFill>
                <a:latin typeface="Arial MT"/>
                <a:cs typeface="Arial MT"/>
              </a:rPr>
              <a:t>access.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25" name="object 25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61908" y="6023697"/>
            <a:ext cx="1421498" cy="33955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6408378-A041-0B0C-AED0-CC8D40BF81FF}"/>
              </a:ext>
            </a:extLst>
          </p:cNvPr>
          <p:cNvSpPr/>
          <p:nvPr/>
        </p:nvSpPr>
        <p:spPr>
          <a:xfrm>
            <a:off x="7696200" y="6023697"/>
            <a:ext cx="1487206" cy="339554"/>
          </a:xfrm>
          <a:prstGeom prst="rect">
            <a:avLst/>
          </a:prstGeom>
          <a:solidFill>
            <a:srgbClr val="0C0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7557"/>
            <a:ext cx="11430000" cy="6477000"/>
            <a:chOff x="0" y="0"/>
            <a:chExt cx="11430000" cy="6477000"/>
          </a:xfrm>
        </p:grpSpPr>
        <p:sp>
          <p:nvSpPr>
            <p:cNvPr id="3" name="object 3"/>
            <p:cNvSpPr/>
            <p:nvPr/>
          </p:nvSpPr>
          <p:spPr>
            <a:xfrm>
              <a:off x="0" y="1523999"/>
              <a:ext cx="11430000" cy="4953000"/>
            </a:xfrm>
            <a:custGeom>
              <a:avLst/>
              <a:gdLst/>
              <a:ahLst/>
              <a:cxnLst/>
              <a:rect l="l" t="t" r="r" b="b"/>
              <a:pathLst>
                <a:path w="11430000" h="4953000">
                  <a:moveTo>
                    <a:pt x="0" y="4953000"/>
                  </a:moveTo>
                  <a:lnTo>
                    <a:pt x="11430000" y="4953000"/>
                  </a:lnTo>
                  <a:lnTo>
                    <a:pt x="11430000" y="0"/>
                  </a:lnTo>
                  <a:lnTo>
                    <a:pt x="0" y="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0C09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1430000" cy="1524000"/>
            </a:xfrm>
            <a:custGeom>
              <a:avLst/>
              <a:gdLst/>
              <a:ahLst/>
              <a:cxnLst/>
              <a:rect l="l" t="t" r="r" b="b"/>
              <a:pathLst>
                <a:path w="11430000" h="1524000">
                  <a:moveTo>
                    <a:pt x="114300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11430000" y="1524000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4D4D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91175" y="573874"/>
              <a:ext cx="321945" cy="236220"/>
            </a:xfrm>
            <a:custGeom>
              <a:avLst/>
              <a:gdLst/>
              <a:ahLst/>
              <a:cxnLst/>
              <a:rect l="l" t="t" r="r" b="b"/>
              <a:pathLst>
                <a:path w="321945" h="236220">
                  <a:moveTo>
                    <a:pt x="278612" y="0"/>
                  </a:moveTo>
                  <a:lnTo>
                    <a:pt x="42862" y="0"/>
                  </a:lnTo>
                  <a:lnTo>
                    <a:pt x="26188" y="3373"/>
                  </a:lnTo>
                  <a:lnTo>
                    <a:pt x="12563" y="12568"/>
                  </a:lnTo>
                  <a:lnTo>
                    <a:pt x="3371" y="26194"/>
                  </a:lnTo>
                  <a:lnTo>
                    <a:pt x="0" y="42862"/>
                  </a:lnTo>
                  <a:lnTo>
                    <a:pt x="0" y="192887"/>
                  </a:lnTo>
                  <a:lnTo>
                    <a:pt x="3371" y="209555"/>
                  </a:lnTo>
                  <a:lnTo>
                    <a:pt x="12563" y="223181"/>
                  </a:lnTo>
                  <a:lnTo>
                    <a:pt x="26188" y="232376"/>
                  </a:lnTo>
                  <a:lnTo>
                    <a:pt x="42862" y="235750"/>
                  </a:lnTo>
                  <a:lnTo>
                    <a:pt x="278612" y="235750"/>
                  </a:lnTo>
                  <a:lnTo>
                    <a:pt x="295280" y="232376"/>
                  </a:lnTo>
                  <a:lnTo>
                    <a:pt x="308906" y="223181"/>
                  </a:lnTo>
                  <a:lnTo>
                    <a:pt x="318101" y="209555"/>
                  </a:lnTo>
                  <a:lnTo>
                    <a:pt x="321475" y="192887"/>
                  </a:lnTo>
                  <a:lnTo>
                    <a:pt x="63487" y="192887"/>
                  </a:lnTo>
                  <a:lnTo>
                    <a:pt x="57861" y="189331"/>
                  </a:lnTo>
                  <a:lnTo>
                    <a:pt x="52501" y="178219"/>
                  </a:lnTo>
                  <a:lnTo>
                    <a:pt x="53238" y="171589"/>
                  </a:lnTo>
                  <a:lnTo>
                    <a:pt x="99987" y="113195"/>
                  </a:lnTo>
                  <a:lnTo>
                    <a:pt x="103009" y="109372"/>
                  </a:lnTo>
                  <a:lnTo>
                    <a:pt x="107619" y="107162"/>
                  </a:lnTo>
                  <a:lnTo>
                    <a:pt x="150332" y="107162"/>
                  </a:lnTo>
                  <a:lnTo>
                    <a:pt x="164622" y="85725"/>
                  </a:lnTo>
                  <a:lnTo>
                    <a:pt x="82880" y="85725"/>
                  </a:lnTo>
                  <a:lnTo>
                    <a:pt x="80149" y="85191"/>
                  </a:lnTo>
                  <a:lnTo>
                    <a:pt x="64300" y="67144"/>
                  </a:lnTo>
                  <a:lnTo>
                    <a:pt x="64300" y="61455"/>
                  </a:lnTo>
                  <a:lnTo>
                    <a:pt x="82880" y="42862"/>
                  </a:lnTo>
                  <a:lnTo>
                    <a:pt x="321475" y="42862"/>
                  </a:lnTo>
                  <a:lnTo>
                    <a:pt x="318101" y="26194"/>
                  </a:lnTo>
                  <a:lnTo>
                    <a:pt x="308906" y="12568"/>
                  </a:lnTo>
                  <a:lnTo>
                    <a:pt x="295280" y="3373"/>
                  </a:lnTo>
                  <a:lnTo>
                    <a:pt x="278612" y="0"/>
                  </a:lnTo>
                  <a:close/>
                </a:path>
                <a:path w="321945" h="236220">
                  <a:moveTo>
                    <a:pt x="321475" y="64300"/>
                  </a:moveTo>
                  <a:lnTo>
                    <a:pt x="192887" y="64300"/>
                  </a:lnTo>
                  <a:lnTo>
                    <a:pt x="197904" y="66979"/>
                  </a:lnTo>
                  <a:lnTo>
                    <a:pt x="200914" y="71462"/>
                  </a:lnTo>
                  <a:lnTo>
                    <a:pt x="268490" y="172796"/>
                  </a:lnTo>
                  <a:lnTo>
                    <a:pt x="268782" y="178219"/>
                  </a:lnTo>
                  <a:lnTo>
                    <a:pt x="268833" y="179158"/>
                  </a:lnTo>
                  <a:lnTo>
                    <a:pt x="263207" y="189598"/>
                  </a:lnTo>
                  <a:lnTo>
                    <a:pt x="257771" y="192887"/>
                  </a:lnTo>
                  <a:lnTo>
                    <a:pt x="321475" y="192887"/>
                  </a:lnTo>
                  <a:lnTo>
                    <a:pt x="321475" y="64300"/>
                  </a:lnTo>
                  <a:close/>
                </a:path>
                <a:path w="321945" h="236220">
                  <a:moveTo>
                    <a:pt x="150332" y="107162"/>
                  </a:moveTo>
                  <a:lnTo>
                    <a:pt x="117398" y="107162"/>
                  </a:lnTo>
                  <a:lnTo>
                    <a:pt x="121958" y="109372"/>
                  </a:lnTo>
                  <a:lnTo>
                    <a:pt x="136626" y="127723"/>
                  </a:lnTo>
                  <a:lnTo>
                    <a:pt x="150332" y="107162"/>
                  </a:lnTo>
                  <a:close/>
                </a:path>
                <a:path w="321945" h="236220">
                  <a:moveTo>
                    <a:pt x="321475" y="42862"/>
                  </a:moveTo>
                  <a:lnTo>
                    <a:pt x="88569" y="42862"/>
                  </a:lnTo>
                  <a:lnTo>
                    <a:pt x="91300" y="43408"/>
                  </a:lnTo>
                  <a:lnTo>
                    <a:pt x="96545" y="45593"/>
                  </a:lnTo>
                  <a:lnTo>
                    <a:pt x="107162" y="61455"/>
                  </a:lnTo>
                  <a:lnTo>
                    <a:pt x="107162" y="67144"/>
                  </a:lnTo>
                  <a:lnTo>
                    <a:pt x="88569" y="85725"/>
                  </a:lnTo>
                  <a:lnTo>
                    <a:pt x="164622" y="85725"/>
                  </a:lnTo>
                  <a:lnTo>
                    <a:pt x="174129" y="71462"/>
                  </a:lnTo>
                  <a:lnTo>
                    <a:pt x="177028" y="67144"/>
                  </a:lnTo>
                  <a:lnTo>
                    <a:pt x="177139" y="66979"/>
                  </a:lnTo>
                  <a:lnTo>
                    <a:pt x="182168" y="64300"/>
                  </a:lnTo>
                  <a:lnTo>
                    <a:pt x="321475" y="64300"/>
                  </a:lnTo>
                  <a:lnTo>
                    <a:pt x="321475" y="42862"/>
                  </a:lnTo>
                  <a:close/>
                </a:path>
              </a:pathLst>
            </a:custGeom>
            <a:solidFill>
              <a:srgbClr val="65656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26887" y="616737"/>
              <a:ext cx="333375" cy="257175"/>
            </a:xfrm>
            <a:custGeom>
              <a:avLst/>
              <a:gdLst/>
              <a:ahLst/>
              <a:cxnLst/>
              <a:rect l="l" t="t" r="r" b="b"/>
              <a:pathLst>
                <a:path w="333375" h="257175">
                  <a:moveTo>
                    <a:pt x="24968" y="0"/>
                  </a:moveTo>
                  <a:lnTo>
                    <a:pt x="7162" y="0"/>
                  </a:lnTo>
                  <a:lnTo>
                    <a:pt x="0" y="7175"/>
                  </a:lnTo>
                  <a:lnTo>
                    <a:pt x="0" y="166103"/>
                  </a:lnTo>
                  <a:lnTo>
                    <a:pt x="7157" y="201550"/>
                  </a:lnTo>
                  <a:lnTo>
                    <a:pt x="26676" y="230498"/>
                  </a:lnTo>
                  <a:lnTo>
                    <a:pt x="55624" y="250017"/>
                  </a:lnTo>
                  <a:lnTo>
                    <a:pt x="91071" y="257175"/>
                  </a:lnTo>
                  <a:lnTo>
                    <a:pt x="314299" y="257175"/>
                  </a:lnTo>
                  <a:lnTo>
                    <a:pt x="321457" y="250017"/>
                  </a:lnTo>
                  <a:lnTo>
                    <a:pt x="321462" y="232194"/>
                  </a:lnTo>
                  <a:lnTo>
                    <a:pt x="314299" y="225031"/>
                  </a:lnTo>
                  <a:lnTo>
                    <a:pt x="91071" y="225031"/>
                  </a:lnTo>
                  <a:lnTo>
                    <a:pt x="68132" y="220401"/>
                  </a:lnTo>
                  <a:lnTo>
                    <a:pt x="49401" y="207773"/>
                  </a:lnTo>
                  <a:lnTo>
                    <a:pt x="36773" y="189042"/>
                  </a:lnTo>
                  <a:lnTo>
                    <a:pt x="32143" y="166103"/>
                  </a:lnTo>
                  <a:lnTo>
                    <a:pt x="32143" y="7175"/>
                  </a:lnTo>
                  <a:lnTo>
                    <a:pt x="24968" y="0"/>
                  </a:lnTo>
                  <a:close/>
                </a:path>
                <a:path w="333375" h="257175">
                  <a:moveTo>
                    <a:pt x="181686" y="64300"/>
                  </a:moveTo>
                  <a:lnTo>
                    <a:pt x="171907" y="64300"/>
                  </a:lnTo>
                  <a:lnTo>
                    <a:pt x="167297" y="66509"/>
                  </a:lnTo>
                  <a:lnTo>
                    <a:pt x="164274" y="70332"/>
                  </a:lnTo>
                  <a:lnTo>
                    <a:pt x="117525" y="128727"/>
                  </a:lnTo>
                  <a:lnTo>
                    <a:pt x="116789" y="135356"/>
                  </a:lnTo>
                  <a:lnTo>
                    <a:pt x="122148" y="146469"/>
                  </a:lnTo>
                  <a:lnTo>
                    <a:pt x="127774" y="150025"/>
                  </a:lnTo>
                  <a:lnTo>
                    <a:pt x="322059" y="150025"/>
                  </a:lnTo>
                  <a:lnTo>
                    <a:pt x="327494" y="146735"/>
                  </a:lnTo>
                  <a:lnTo>
                    <a:pt x="333121" y="136296"/>
                  </a:lnTo>
                  <a:lnTo>
                    <a:pt x="332778" y="129933"/>
                  </a:lnTo>
                  <a:lnTo>
                    <a:pt x="302711" y="84861"/>
                  </a:lnTo>
                  <a:lnTo>
                    <a:pt x="200914" y="84861"/>
                  </a:lnTo>
                  <a:lnTo>
                    <a:pt x="186245" y="66509"/>
                  </a:lnTo>
                  <a:lnTo>
                    <a:pt x="181686" y="64300"/>
                  </a:lnTo>
                  <a:close/>
                </a:path>
                <a:path w="333375" h="257175">
                  <a:moveTo>
                    <a:pt x="257175" y="21437"/>
                  </a:moveTo>
                  <a:lnTo>
                    <a:pt x="246456" y="21437"/>
                  </a:lnTo>
                  <a:lnTo>
                    <a:pt x="241427" y="24117"/>
                  </a:lnTo>
                  <a:lnTo>
                    <a:pt x="238417" y="28600"/>
                  </a:lnTo>
                  <a:lnTo>
                    <a:pt x="200914" y="84861"/>
                  </a:lnTo>
                  <a:lnTo>
                    <a:pt x="302711" y="84861"/>
                  </a:lnTo>
                  <a:lnTo>
                    <a:pt x="265201" y="28600"/>
                  </a:lnTo>
                  <a:lnTo>
                    <a:pt x="262191" y="24117"/>
                  </a:lnTo>
                  <a:lnTo>
                    <a:pt x="257175" y="21437"/>
                  </a:lnTo>
                  <a:close/>
                </a:path>
              </a:pathLst>
            </a:custGeom>
            <a:solidFill>
              <a:srgbClr val="6565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1846" y="2006409"/>
            <a:ext cx="918654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310" dirty="0"/>
              <a:t>Dashboard</a:t>
            </a:r>
            <a:r>
              <a:rPr sz="2250" spc="-125" dirty="0"/>
              <a:t> </a:t>
            </a:r>
            <a:r>
              <a:rPr sz="2250" spc="185" dirty="0"/>
              <a:t>Desiąn:</a:t>
            </a:r>
            <a:r>
              <a:rPr sz="2250" spc="-125" dirty="0"/>
              <a:t> </a:t>
            </a:r>
            <a:r>
              <a:rPr sz="2250" spc="175" dirty="0"/>
              <a:t>Four</a:t>
            </a:r>
            <a:r>
              <a:rPr sz="2250" spc="-125" dirty="0"/>
              <a:t> </a:t>
            </a:r>
            <a:r>
              <a:rPr sz="2250" spc="320" dirty="0"/>
              <a:t>Paąes</a:t>
            </a:r>
            <a:r>
              <a:rPr sz="2250" spc="-125" dirty="0"/>
              <a:t> </a:t>
            </a:r>
            <a:r>
              <a:rPr sz="2250" spc="120" dirty="0"/>
              <a:t>for</a:t>
            </a:r>
            <a:r>
              <a:rPr sz="2250" spc="-125" dirty="0"/>
              <a:t> </a:t>
            </a:r>
            <a:r>
              <a:rPr sz="2250" spc="245" dirty="0"/>
              <a:t>Comprehensive</a:t>
            </a:r>
            <a:r>
              <a:rPr sz="2250" spc="-125" dirty="0"/>
              <a:t> </a:t>
            </a:r>
            <a:r>
              <a:rPr sz="2250" spc="165" dirty="0"/>
              <a:t>Insiąhts</a:t>
            </a:r>
            <a:endParaRPr sz="2250" dirty="0"/>
          </a:p>
        </p:txBody>
      </p:sp>
      <p:sp>
        <p:nvSpPr>
          <p:cNvPr id="8" name="object 8"/>
          <p:cNvSpPr txBox="1"/>
          <p:nvPr/>
        </p:nvSpPr>
        <p:spPr>
          <a:xfrm>
            <a:off x="641846" y="2570860"/>
            <a:ext cx="8335009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interactive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dashboard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is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structured to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guide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users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through four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distinct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layers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of analysis,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from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broad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engagement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metrics to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specific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tool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comparisons.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7225" y="2905099"/>
            <a:ext cx="10677525" cy="3477260"/>
            <a:chOff x="657225" y="2905099"/>
            <a:chExt cx="10677525" cy="3477260"/>
          </a:xfrm>
        </p:grpSpPr>
        <p:sp>
          <p:nvSpPr>
            <p:cNvPr id="10" name="object 10"/>
            <p:cNvSpPr/>
            <p:nvPr/>
          </p:nvSpPr>
          <p:spPr>
            <a:xfrm>
              <a:off x="657225" y="2905099"/>
              <a:ext cx="10114915" cy="2136775"/>
            </a:xfrm>
            <a:custGeom>
              <a:avLst/>
              <a:gdLst/>
              <a:ahLst/>
              <a:cxnLst/>
              <a:rect l="l" t="t" r="r" b="b"/>
              <a:pathLst>
                <a:path w="10114915" h="2136775">
                  <a:moveTo>
                    <a:pt x="4999736" y="1953983"/>
                  </a:moveTo>
                  <a:lnTo>
                    <a:pt x="4695825" y="1771650"/>
                  </a:lnTo>
                  <a:lnTo>
                    <a:pt x="4695825" y="1832432"/>
                  </a:lnTo>
                  <a:lnTo>
                    <a:pt x="0" y="1832432"/>
                  </a:lnTo>
                  <a:lnTo>
                    <a:pt x="0" y="2075548"/>
                  </a:lnTo>
                  <a:lnTo>
                    <a:pt x="4695825" y="2075548"/>
                  </a:lnTo>
                  <a:lnTo>
                    <a:pt x="4695825" y="2136343"/>
                  </a:lnTo>
                  <a:lnTo>
                    <a:pt x="4999736" y="1953983"/>
                  </a:lnTo>
                  <a:close/>
                </a:path>
                <a:path w="10114915" h="2136775">
                  <a:moveTo>
                    <a:pt x="4999736" y="363321"/>
                  </a:moveTo>
                  <a:lnTo>
                    <a:pt x="4695825" y="180975"/>
                  </a:lnTo>
                  <a:lnTo>
                    <a:pt x="4695825" y="241757"/>
                  </a:lnTo>
                  <a:lnTo>
                    <a:pt x="0" y="241757"/>
                  </a:lnTo>
                  <a:lnTo>
                    <a:pt x="0" y="484873"/>
                  </a:lnTo>
                  <a:lnTo>
                    <a:pt x="4695825" y="484873"/>
                  </a:lnTo>
                  <a:lnTo>
                    <a:pt x="4695825" y="545655"/>
                  </a:lnTo>
                  <a:lnTo>
                    <a:pt x="4999736" y="363321"/>
                  </a:lnTo>
                  <a:close/>
                </a:path>
                <a:path w="10114915" h="2136775">
                  <a:moveTo>
                    <a:pt x="10114648" y="1773008"/>
                  </a:moveTo>
                  <a:lnTo>
                    <a:pt x="9810750" y="1590675"/>
                  </a:lnTo>
                  <a:lnTo>
                    <a:pt x="9810750" y="1651457"/>
                  </a:lnTo>
                  <a:lnTo>
                    <a:pt x="5114925" y="1651457"/>
                  </a:lnTo>
                  <a:lnTo>
                    <a:pt x="5114925" y="1894573"/>
                  </a:lnTo>
                  <a:lnTo>
                    <a:pt x="9810750" y="1894573"/>
                  </a:lnTo>
                  <a:lnTo>
                    <a:pt x="9810750" y="1955368"/>
                  </a:lnTo>
                  <a:lnTo>
                    <a:pt x="10114648" y="1773008"/>
                  </a:lnTo>
                  <a:close/>
                </a:path>
                <a:path w="10114915" h="2136775">
                  <a:moveTo>
                    <a:pt x="10114648" y="182333"/>
                  </a:moveTo>
                  <a:lnTo>
                    <a:pt x="9810750" y="0"/>
                  </a:lnTo>
                  <a:lnTo>
                    <a:pt x="9810750" y="60782"/>
                  </a:lnTo>
                  <a:lnTo>
                    <a:pt x="5114925" y="60782"/>
                  </a:lnTo>
                  <a:lnTo>
                    <a:pt x="5114925" y="303898"/>
                  </a:lnTo>
                  <a:lnTo>
                    <a:pt x="9810750" y="303898"/>
                  </a:lnTo>
                  <a:lnTo>
                    <a:pt x="9810750" y="364680"/>
                  </a:lnTo>
                  <a:lnTo>
                    <a:pt x="10114648" y="182333"/>
                  </a:lnTo>
                  <a:close/>
                </a:path>
              </a:pathLst>
            </a:custGeom>
            <a:solidFill>
              <a:srgbClr val="2B2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62650"/>
              <a:ext cx="1754504" cy="4191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63290" y="3549554"/>
            <a:ext cx="4519930" cy="6502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05" dirty="0">
                <a:solidFill>
                  <a:srgbClr val="D9E1FF"/>
                </a:solidFill>
                <a:latin typeface="SimSun-ExtB"/>
                <a:cs typeface="SimSun-ExtB"/>
              </a:rPr>
              <a:t>Pa</a:t>
            </a:r>
            <a:r>
              <a:rPr lang="en-US" sz="1350" spc="105" dirty="0">
                <a:solidFill>
                  <a:srgbClr val="D9E1FF"/>
                </a:solidFill>
                <a:latin typeface="SimSun-ExtB"/>
                <a:cs typeface="SimSun-ExtB"/>
              </a:rPr>
              <a:t>g</a:t>
            </a:r>
            <a:r>
              <a:rPr sz="1350" spc="105" dirty="0">
                <a:solidFill>
                  <a:srgbClr val="D9E1FF"/>
                </a:solidFill>
                <a:latin typeface="SimSun-ExtB"/>
                <a:cs typeface="SimSun-ExtB"/>
              </a:rPr>
              <a:t>e</a:t>
            </a:r>
            <a:r>
              <a:rPr sz="1350" spc="-325" dirty="0">
                <a:solidFill>
                  <a:srgbClr val="D9E1FF"/>
                </a:solidFill>
                <a:latin typeface="SimSun-ExtB"/>
                <a:cs typeface="SimSun-ExtB"/>
              </a:rPr>
              <a:t> </a:t>
            </a:r>
            <a:r>
              <a:rPr sz="1350" spc="-225" dirty="0">
                <a:solidFill>
                  <a:srgbClr val="D9E1FF"/>
                </a:solidFill>
                <a:latin typeface="SimSun-ExtB"/>
                <a:cs typeface="SimSun-ExtB"/>
              </a:rPr>
              <a:t>1:</a:t>
            </a:r>
            <a:r>
              <a:rPr sz="1350" spc="-315" dirty="0">
                <a:solidFill>
                  <a:srgbClr val="D9E1FF"/>
                </a:solidFill>
                <a:latin typeface="SimSun-ExtB"/>
                <a:cs typeface="SimSun-ExtB"/>
              </a:rPr>
              <a:t> </a:t>
            </a:r>
            <a:r>
              <a:rPr lang="en-IN" sz="1200" b="1" dirty="0">
                <a:solidFill>
                  <a:schemeClr val="bg1"/>
                </a:solidFill>
                <a:effectLst/>
              </a:rPr>
              <a:t>AI Engagement Index</a:t>
            </a:r>
            <a:r>
              <a:rPr sz="1200" spc="-325" dirty="0">
                <a:solidFill>
                  <a:schemeClr val="bg1"/>
                </a:solidFill>
                <a:latin typeface="SimSun-ExtB"/>
                <a:cs typeface="SimSun-ExtB"/>
              </a:rPr>
              <a:t> </a:t>
            </a:r>
            <a:r>
              <a:rPr sz="1350" spc="370" dirty="0">
                <a:solidFill>
                  <a:srgbClr val="D9E1FF"/>
                </a:solidFill>
                <a:latin typeface="SimSun-ExtB"/>
                <a:cs typeface="SimSun-ExtB"/>
              </a:rPr>
              <a:t>&amp;</a:t>
            </a:r>
            <a:r>
              <a:rPr sz="1350" spc="-320" dirty="0">
                <a:solidFill>
                  <a:srgbClr val="D9E1FF"/>
                </a:solidFill>
                <a:latin typeface="SimSun-ExtB"/>
                <a:cs typeface="SimSun-ExtB"/>
              </a:rPr>
              <a:t> </a:t>
            </a:r>
            <a:r>
              <a:rPr lang="en-IN" sz="1200" b="1" dirty="0">
                <a:solidFill>
                  <a:schemeClr val="bg1"/>
                </a:solidFill>
                <a:effectLst/>
              </a:rPr>
              <a:t>Student Personas</a:t>
            </a:r>
            <a:endParaRPr sz="1200" dirty="0">
              <a:solidFill>
                <a:schemeClr val="bg1"/>
              </a:solidFill>
              <a:latin typeface="SimSun-ExtB"/>
              <a:cs typeface="SimSun-ExtB"/>
            </a:endParaRPr>
          </a:p>
          <a:p>
            <a:pPr marL="12700" marR="5080">
              <a:lnSpc>
                <a:spcPct val="131600"/>
              </a:lnSpc>
              <a:spcBef>
                <a:spcPts val="520"/>
              </a:spcBef>
            </a:pP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Visualizes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the 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overall</a:t>
            </a:r>
            <a:r>
              <a:rPr sz="950" spc="-5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Engagement Index and highlights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distinct student 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personas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(e.g.,</a:t>
            </a:r>
            <a:r>
              <a:rPr sz="950" spc="-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Early</a:t>
            </a:r>
            <a:r>
              <a:rPr sz="950" spc="-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Adopter,</a:t>
            </a:r>
            <a:r>
              <a:rPr sz="950" spc="-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Cautious</a:t>
            </a:r>
            <a:r>
              <a:rPr sz="950" spc="-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User).</a:t>
            </a:r>
            <a:endParaRPr sz="95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84468" y="3368579"/>
            <a:ext cx="4548505" cy="6924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05" dirty="0">
                <a:solidFill>
                  <a:srgbClr val="D9E1FF"/>
                </a:solidFill>
                <a:latin typeface="SimSun-ExtB"/>
                <a:cs typeface="SimSun-ExtB"/>
              </a:rPr>
              <a:t>Pa</a:t>
            </a:r>
            <a:r>
              <a:rPr lang="en-US" sz="1350" spc="105" dirty="0">
                <a:solidFill>
                  <a:srgbClr val="D9E1FF"/>
                </a:solidFill>
                <a:latin typeface="SimSun-ExtB"/>
                <a:cs typeface="SimSun-ExtB"/>
              </a:rPr>
              <a:t>g</a:t>
            </a:r>
            <a:r>
              <a:rPr sz="1350" spc="105" dirty="0">
                <a:solidFill>
                  <a:srgbClr val="D9E1FF"/>
                </a:solidFill>
                <a:latin typeface="SimSun-ExtB"/>
                <a:cs typeface="SimSun-ExtB"/>
              </a:rPr>
              <a:t>e</a:t>
            </a:r>
            <a:r>
              <a:rPr sz="1350" spc="-345" dirty="0">
                <a:solidFill>
                  <a:srgbClr val="D9E1FF"/>
                </a:solidFill>
                <a:latin typeface="SimSun-ExtB"/>
                <a:cs typeface="SimSun-ExtB"/>
              </a:rPr>
              <a:t> </a:t>
            </a:r>
            <a:r>
              <a:rPr sz="1350" spc="-65" dirty="0">
                <a:solidFill>
                  <a:srgbClr val="D9E1FF"/>
                </a:solidFill>
                <a:latin typeface="SimSun-ExtB"/>
                <a:cs typeface="SimSun-ExtB"/>
              </a:rPr>
              <a:t>2:</a:t>
            </a:r>
            <a:r>
              <a:rPr sz="1350" spc="-335" dirty="0">
                <a:solidFill>
                  <a:srgbClr val="D9E1FF"/>
                </a:solidFill>
                <a:latin typeface="SimSun-ExtB"/>
                <a:cs typeface="SimSun-ExtB"/>
              </a:rPr>
              <a:t> </a:t>
            </a:r>
            <a:r>
              <a:rPr lang="en-IN" sz="1200" b="1" dirty="0" err="1">
                <a:solidFill>
                  <a:schemeClr val="bg1"/>
                </a:solidFill>
                <a:effectLst/>
              </a:rPr>
              <a:t>Statewise</a:t>
            </a:r>
            <a:r>
              <a:rPr lang="en-IN" sz="1200" b="1" dirty="0">
                <a:solidFill>
                  <a:schemeClr val="bg1"/>
                </a:solidFill>
                <a:effectLst/>
              </a:rPr>
              <a:t> AI Literacy Map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Geospatial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analysis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of</a:t>
            </a:r>
            <a:r>
              <a:rPr sz="950" spc="-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literacy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digital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learning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resilience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metrics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across</a:t>
            </a:r>
            <a:r>
              <a:rPr lang="en-US" sz="95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lang="en-US" sz="950" spc="-5" dirty="0">
                <a:solidFill>
                  <a:srgbClr val="D9E1FF"/>
                </a:solidFill>
                <a:latin typeface="Arial MT"/>
                <a:cs typeface="Arial MT"/>
              </a:rPr>
              <a:t>the Indian </a:t>
            </a:r>
            <a:r>
              <a:rPr sz="950" spc="-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states.</a:t>
            </a:r>
            <a:endParaRPr lang="en-US" sz="950" spc="-1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900" spc="-10" dirty="0">
                <a:solidFill>
                  <a:schemeClr val="bg1"/>
                </a:solidFill>
                <a:latin typeface="Arial MT"/>
                <a:cs typeface="Arial MT"/>
              </a:rPr>
              <a:t>And show the </a:t>
            </a:r>
            <a:r>
              <a:rPr lang="en-IN" sz="900" dirty="0">
                <a:solidFill>
                  <a:schemeClr val="bg1"/>
                </a:solidFill>
              </a:rPr>
              <a:t>Digital Learning Resilience</a:t>
            </a:r>
            <a:endParaRPr sz="9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3290" y="5140229"/>
            <a:ext cx="4123690" cy="652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05" dirty="0">
                <a:solidFill>
                  <a:srgbClr val="D9E1FF"/>
                </a:solidFill>
                <a:latin typeface="SimSun-ExtB"/>
                <a:cs typeface="SimSun-ExtB"/>
              </a:rPr>
              <a:t>Pa</a:t>
            </a:r>
            <a:r>
              <a:rPr lang="en-US" sz="1350" spc="105" dirty="0">
                <a:solidFill>
                  <a:srgbClr val="D9E1FF"/>
                </a:solidFill>
                <a:latin typeface="SimSun-ExtB"/>
                <a:cs typeface="SimSun-ExtB"/>
              </a:rPr>
              <a:t>g</a:t>
            </a:r>
            <a:r>
              <a:rPr sz="1350" spc="105" dirty="0">
                <a:solidFill>
                  <a:srgbClr val="D9E1FF"/>
                </a:solidFill>
                <a:latin typeface="SimSun-ExtB"/>
                <a:cs typeface="SimSun-ExtB"/>
              </a:rPr>
              <a:t>e</a:t>
            </a:r>
            <a:r>
              <a:rPr sz="1350" spc="-285" dirty="0">
                <a:solidFill>
                  <a:srgbClr val="D9E1FF"/>
                </a:solidFill>
                <a:latin typeface="SimSun-ExtB"/>
                <a:cs typeface="SimSun-ExtB"/>
              </a:rPr>
              <a:t> </a:t>
            </a:r>
            <a:r>
              <a:rPr sz="1350" spc="-55" dirty="0">
                <a:solidFill>
                  <a:srgbClr val="D9E1FF"/>
                </a:solidFill>
                <a:latin typeface="SimSun-ExtB"/>
                <a:cs typeface="SimSun-ExtB"/>
              </a:rPr>
              <a:t>3:</a:t>
            </a:r>
            <a:r>
              <a:rPr sz="1350" spc="-280" dirty="0">
                <a:solidFill>
                  <a:srgbClr val="D9E1FF"/>
                </a:solidFill>
                <a:latin typeface="SimSun-ExtB"/>
                <a:cs typeface="SimSun-ExtB"/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Readiness-to-Integrate Score</a:t>
            </a:r>
            <a:r>
              <a:rPr sz="1200" spc="-280" dirty="0">
                <a:solidFill>
                  <a:schemeClr val="bg1"/>
                </a:solidFill>
                <a:latin typeface="SimSun-ExtB"/>
                <a:cs typeface="SimSun-ExtB"/>
              </a:rPr>
              <a:t> </a:t>
            </a:r>
            <a:endParaRPr sz="1350" dirty="0">
              <a:latin typeface="SimSun-ExtB"/>
              <a:cs typeface="SimSun-ExtB"/>
            </a:endParaRPr>
          </a:p>
          <a:p>
            <a:pPr marL="12700" marR="5080">
              <a:lnSpc>
                <a:spcPct val="138200"/>
              </a:lnSpc>
              <a:spcBef>
                <a:spcPts val="370"/>
              </a:spcBef>
            </a:pP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Focus</a:t>
            </a:r>
            <a:r>
              <a:rPr sz="950" spc="-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on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institutional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readiness,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assessing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college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policy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support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 digital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infrastructure</a:t>
            </a:r>
            <a:r>
              <a:rPr sz="950" spc="-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quality.</a:t>
            </a:r>
            <a:endParaRPr sz="95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84468" y="4959254"/>
            <a:ext cx="4521835" cy="637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05" dirty="0">
                <a:solidFill>
                  <a:srgbClr val="D9E1FF"/>
                </a:solidFill>
                <a:latin typeface="SimSun-ExtB"/>
                <a:cs typeface="SimSun-ExtB"/>
              </a:rPr>
              <a:t>Pa</a:t>
            </a:r>
            <a:r>
              <a:rPr lang="en-US" sz="1350" spc="105" dirty="0">
                <a:solidFill>
                  <a:srgbClr val="D9E1FF"/>
                </a:solidFill>
                <a:latin typeface="SimSun-ExtB"/>
                <a:cs typeface="SimSun-ExtB"/>
              </a:rPr>
              <a:t>ge 4:</a:t>
            </a:r>
            <a:r>
              <a:rPr lang="en-IN" sz="1200" b="1" dirty="0">
                <a:solidFill>
                  <a:schemeClr val="bg1"/>
                </a:solidFill>
                <a:effectLst/>
              </a:rPr>
              <a:t>AI Tool Comparison</a:t>
            </a:r>
            <a:endParaRPr sz="1200" dirty="0">
              <a:solidFill>
                <a:schemeClr val="bg1"/>
              </a:solidFill>
              <a:latin typeface="SimSun-ExtB"/>
              <a:cs typeface="SimSun-ExtB"/>
            </a:endParaRPr>
          </a:p>
          <a:p>
            <a:pPr marL="12700" marR="5080">
              <a:lnSpc>
                <a:spcPct val="131600"/>
              </a:lnSpc>
              <a:spcBef>
                <a:spcPts val="445"/>
              </a:spcBef>
            </a:pP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Detailed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breakdown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of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specific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tool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usage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trends, preference,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D9E1FF"/>
                </a:solidFill>
                <a:latin typeface="Arial MT"/>
                <a:cs typeface="Arial MT"/>
              </a:rPr>
              <a:t>comparative</a:t>
            </a:r>
            <a:r>
              <a:rPr sz="95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D9E1FF"/>
                </a:solidFill>
                <a:latin typeface="Arial MT"/>
                <a:cs typeface="Arial MT"/>
              </a:rPr>
              <a:t>trust levels.</a:t>
            </a:r>
            <a:endParaRPr sz="950" dirty="0">
              <a:latin typeface="Arial MT"/>
              <a:cs typeface="Arial M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9C20C8-DDC7-9CE1-DEF6-6DA68CDD6F8A}"/>
              </a:ext>
            </a:extLst>
          </p:cNvPr>
          <p:cNvSpPr/>
          <p:nvPr/>
        </p:nvSpPr>
        <p:spPr>
          <a:xfrm>
            <a:off x="9580244" y="5962650"/>
            <a:ext cx="1754504" cy="460323"/>
          </a:xfrm>
          <a:prstGeom prst="rect">
            <a:avLst/>
          </a:prstGeom>
          <a:solidFill>
            <a:srgbClr val="0C0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56BB3C-8571-0C82-E510-11E35EAD3D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95600" cy="1435126"/>
          </a:xfrm>
          <a:prstGeom prst="rect">
            <a:avLst/>
          </a:prstGeom>
        </p:spPr>
      </p:pic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E29071-3540-7A47-21D4-45A09A43B1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5120"/>
            <a:ext cx="2631287" cy="1471321"/>
          </a:xfrm>
          <a:prstGeom prst="rect">
            <a:avLst/>
          </a:prstGeom>
        </p:spPr>
      </p:pic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4046EE-2F6A-993C-CBFE-06507FC128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887" y="0"/>
            <a:ext cx="2895598" cy="1469973"/>
          </a:xfrm>
          <a:prstGeom prst="rect">
            <a:avLst/>
          </a:prstGeom>
        </p:spPr>
      </p:pic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135932-F76C-5383-9E2A-4F651E2A04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486" y="0"/>
            <a:ext cx="3007513" cy="1476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40"/>
              </a:spcBef>
            </a:pPr>
            <a:r>
              <a:rPr spc="325" dirty="0"/>
              <a:t>Key</a:t>
            </a:r>
            <a:r>
              <a:rPr spc="-175" dirty="0"/>
              <a:t> </a:t>
            </a:r>
            <a:r>
              <a:rPr spc="204" dirty="0"/>
              <a:t>Insiąhts:</a:t>
            </a:r>
            <a:r>
              <a:rPr spc="-170" dirty="0"/>
              <a:t> </a:t>
            </a:r>
            <a:r>
              <a:rPr spc="245" dirty="0"/>
              <a:t>Correlatiną</a:t>
            </a:r>
            <a:r>
              <a:rPr spc="-170" dirty="0"/>
              <a:t> </a:t>
            </a:r>
            <a:r>
              <a:rPr spc="275" dirty="0"/>
              <a:t>Awareness,</a:t>
            </a:r>
            <a:r>
              <a:rPr spc="-170" dirty="0"/>
              <a:t> </a:t>
            </a:r>
            <a:r>
              <a:rPr spc="310" dirty="0"/>
              <a:t>Access, </a:t>
            </a:r>
            <a:r>
              <a:rPr spc="475" dirty="0"/>
              <a:t>and</a:t>
            </a:r>
            <a:r>
              <a:rPr spc="-180" dirty="0"/>
              <a:t> </a:t>
            </a:r>
            <a:r>
              <a:rPr spc="320" dirty="0"/>
              <a:t>Adoption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7661" y="1836780"/>
            <a:ext cx="424815" cy="159385"/>
            <a:chOff x="657661" y="1836780"/>
            <a:chExt cx="424815" cy="159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523" y="1836780"/>
              <a:ext cx="91891" cy="1589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7661" y="1847875"/>
              <a:ext cx="349250" cy="137160"/>
            </a:xfrm>
            <a:custGeom>
              <a:avLst/>
              <a:gdLst/>
              <a:ahLst/>
              <a:cxnLst/>
              <a:rect l="l" t="t" r="r" b="b"/>
              <a:pathLst>
                <a:path w="349250" h="137160">
                  <a:moveTo>
                    <a:pt x="0" y="136702"/>
                  </a:moveTo>
                  <a:lnTo>
                    <a:pt x="343956" y="136715"/>
                  </a:lnTo>
                </a:path>
                <a:path w="349250" h="137160">
                  <a:moveTo>
                    <a:pt x="349021" y="0"/>
                  </a:moveTo>
                  <a:lnTo>
                    <a:pt x="284231" y="0"/>
                  </a:lnTo>
                </a:path>
              </a:pathLst>
            </a:custGeom>
            <a:ln w="22189">
              <a:solidFill>
                <a:srgbClr val="7F6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7225" y="2045809"/>
            <a:ext cx="516255" cy="318135"/>
            <a:chOff x="657225" y="2045809"/>
            <a:chExt cx="516255" cy="318135"/>
          </a:xfrm>
        </p:grpSpPr>
        <p:sp>
          <p:nvSpPr>
            <p:cNvPr id="7" name="object 7"/>
            <p:cNvSpPr/>
            <p:nvPr/>
          </p:nvSpPr>
          <p:spPr>
            <a:xfrm>
              <a:off x="814249" y="2056904"/>
              <a:ext cx="347980" cy="295910"/>
            </a:xfrm>
            <a:custGeom>
              <a:avLst/>
              <a:gdLst/>
              <a:ahLst/>
              <a:cxnLst/>
              <a:rect l="l" t="t" r="r" b="b"/>
              <a:pathLst>
                <a:path w="347980" h="295910">
                  <a:moveTo>
                    <a:pt x="236496" y="0"/>
                  </a:moveTo>
                  <a:lnTo>
                    <a:pt x="243660" y="1151"/>
                  </a:lnTo>
                  <a:lnTo>
                    <a:pt x="250715" y="2765"/>
                  </a:lnTo>
                  <a:lnTo>
                    <a:pt x="257543" y="4822"/>
                  </a:lnTo>
                  <a:lnTo>
                    <a:pt x="264025" y="7302"/>
                  </a:lnTo>
                  <a:lnTo>
                    <a:pt x="271725" y="12128"/>
                  </a:lnTo>
                </a:path>
                <a:path w="347980" h="295910">
                  <a:moveTo>
                    <a:pt x="0" y="76085"/>
                  </a:moveTo>
                  <a:lnTo>
                    <a:pt x="6595" y="77213"/>
                  </a:lnTo>
                  <a:lnTo>
                    <a:pt x="13425" y="78876"/>
                  </a:lnTo>
                  <a:lnTo>
                    <a:pt x="20420" y="81068"/>
                  </a:lnTo>
                  <a:lnTo>
                    <a:pt x="27513" y="83781"/>
                  </a:lnTo>
                  <a:lnTo>
                    <a:pt x="35286" y="88404"/>
                  </a:lnTo>
                </a:path>
                <a:path w="347980" h="295910">
                  <a:moveTo>
                    <a:pt x="218692" y="246900"/>
                  </a:moveTo>
                  <a:lnTo>
                    <a:pt x="225860" y="284543"/>
                  </a:lnTo>
                  <a:lnTo>
                    <a:pt x="269800" y="295744"/>
                  </a:lnTo>
                  <a:lnTo>
                    <a:pt x="275351" y="295160"/>
                  </a:lnTo>
                  <a:lnTo>
                    <a:pt x="300523" y="252801"/>
                  </a:lnTo>
                  <a:lnTo>
                    <a:pt x="301051" y="242800"/>
                  </a:lnTo>
                  <a:lnTo>
                    <a:pt x="312915" y="206277"/>
                  </a:lnTo>
                  <a:lnTo>
                    <a:pt x="326955" y="185542"/>
                  </a:lnTo>
                  <a:lnTo>
                    <a:pt x="332022" y="178710"/>
                  </a:lnTo>
                  <a:lnTo>
                    <a:pt x="347007" y="141859"/>
                  </a:lnTo>
                  <a:lnTo>
                    <a:pt x="347845" y="133591"/>
                  </a:lnTo>
                  <a:lnTo>
                    <a:pt x="347800" y="125869"/>
                  </a:lnTo>
                  <a:lnTo>
                    <a:pt x="335056" y="85344"/>
                  </a:lnTo>
                  <a:lnTo>
                    <a:pt x="304224" y="55283"/>
                  </a:lnTo>
                  <a:lnTo>
                    <a:pt x="263246" y="43383"/>
                  </a:lnTo>
                  <a:lnTo>
                    <a:pt x="254198" y="43421"/>
                  </a:lnTo>
                  <a:lnTo>
                    <a:pt x="213097" y="56108"/>
                  </a:lnTo>
                  <a:lnTo>
                    <a:pt x="183896" y="85458"/>
                  </a:lnTo>
                  <a:lnTo>
                    <a:pt x="171455" y="128130"/>
                  </a:lnTo>
                  <a:lnTo>
                    <a:pt x="171568" y="133629"/>
                  </a:lnTo>
                  <a:lnTo>
                    <a:pt x="186315" y="176757"/>
                  </a:lnTo>
                  <a:lnTo>
                    <a:pt x="200868" y="197167"/>
                  </a:lnTo>
                  <a:lnTo>
                    <a:pt x="204567" y="203415"/>
                  </a:lnTo>
                  <a:lnTo>
                    <a:pt x="218711" y="243014"/>
                  </a:lnTo>
                  <a:lnTo>
                    <a:pt x="218692" y="246900"/>
                  </a:lnTo>
                </a:path>
              </a:pathLst>
            </a:custGeom>
            <a:ln w="22189">
              <a:solidFill>
                <a:srgbClr val="7F6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2910" y="2134214"/>
              <a:ext cx="93116" cy="15884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7225" y="2056904"/>
              <a:ext cx="457834" cy="243204"/>
            </a:xfrm>
            <a:custGeom>
              <a:avLst/>
              <a:gdLst/>
              <a:ahLst/>
              <a:cxnLst/>
              <a:rect l="l" t="t" r="r" b="b"/>
              <a:pathLst>
                <a:path w="457834" h="243205">
                  <a:moveTo>
                    <a:pt x="0" y="50"/>
                  </a:moveTo>
                  <a:lnTo>
                    <a:pt x="393520" y="0"/>
                  </a:lnTo>
                </a:path>
                <a:path w="457834" h="243205">
                  <a:moveTo>
                    <a:pt x="457527" y="243001"/>
                  </a:moveTo>
                  <a:lnTo>
                    <a:pt x="375735" y="243014"/>
                  </a:lnTo>
                </a:path>
                <a:path w="457834" h="243205">
                  <a:moveTo>
                    <a:pt x="0" y="76022"/>
                  </a:moveTo>
                  <a:lnTo>
                    <a:pt x="157024" y="76085"/>
                  </a:lnTo>
                </a:path>
                <a:path w="457834" h="243205">
                  <a:moveTo>
                    <a:pt x="156780" y="225056"/>
                  </a:moveTo>
                  <a:lnTo>
                    <a:pt x="117549" y="225183"/>
                  </a:lnTo>
                </a:path>
              </a:pathLst>
            </a:custGeom>
            <a:ln w="22189">
              <a:solidFill>
                <a:srgbClr val="7F6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1845" y="2532570"/>
            <a:ext cx="4578350" cy="1152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b="1" spc="175" dirty="0">
                <a:solidFill>
                  <a:srgbClr val="D9E1FF"/>
                </a:solidFill>
                <a:latin typeface="Trebuchet MS"/>
                <a:cs typeface="Trebuchet MS"/>
              </a:rPr>
              <a:t>Awareness</a:t>
            </a:r>
            <a:r>
              <a:rPr sz="1550" b="1" spc="-90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550" b="1" spc="125" dirty="0">
                <a:solidFill>
                  <a:srgbClr val="D9E1FF"/>
                </a:solidFill>
                <a:latin typeface="Trebuchet MS"/>
                <a:cs typeface="Trebuchet MS"/>
              </a:rPr>
              <a:t>Drives</a:t>
            </a:r>
            <a:r>
              <a:rPr sz="1550" b="1" spc="-14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550" b="1" spc="70" dirty="0">
                <a:solidFill>
                  <a:srgbClr val="D9E1FF"/>
                </a:solidFill>
                <a:latin typeface="Trebuchet MS"/>
                <a:cs typeface="Trebuchet MS"/>
              </a:rPr>
              <a:t>Trust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37000"/>
              </a:lnSpc>
              <a:spcBef>
                <a:spcPts val="590"/>
              </a:spcBef>
            </a:pP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</a:t>
            </a:r>
            <a:r>
              <a:rPr sz="1300" spc="-5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statistically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significant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finding: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Students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who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report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higher </a:t>
            </a:r>
            <a:r>
              <a:rPr sz="1300" dirty="0">
                <a:solidFill>
                  <a:srgbClr val="6137C8"/>
                </a:solidFill>
                <a:latin typeface="Arial MT"/>
                <a:cs typeface="Arial MT"/>
              </a:rPr>
              <a:t>awareness</a:t>
            </a:r>
            <a:r>
              <a:rPr sz="1300" spc="20" dirty="0">
                <a:solidFill>
                  <a:srgbClr val="6137C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6137C8"/>
                </a:solidFill>
                <a:latin typeface="Arial MT"/>
                <a:cs typeface="Arial MT"/>
              </a:rPr>
              <a:t>of</a:t>
            </a:r>
            <a:r>
              <a:rPr sz="1300" spc="-55" dirty="0">
                <a:solidFill>
                  <a:srgbClr val="6137C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6137C8"/>
                </a:solidFill>
                <a:latin typeface="Arial MT"/>
                <a:cs typeface="Arial MT"/>
              </a:rPr>
              <a:t>AI</a:t>
            </a:r>
            <a:r>
              <a:rPr sz="1300" spc="20" dirty="0">
                <a:solidFill>
                  <a:srgbClr val="6137C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6137C8"/>
                </a:solidFill>
                <a:latin typeface="Arial MT"/>
                <a:cs typeface="Arial MT"/>
              </a:rPr>
              <a:t>principles</a:t>
            </a:r>
            <a:r>
              <a:rPr sz="1300" spc="25" dirty="0">
                <a:solidFill>
                  <a:srgbClr val="6137C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also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demonstrate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increased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engagement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greater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trust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in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tools'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outputs.</a:t>
            </a:r>
            <a:endParaRPr sz="13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08595" y="1871976"/>
            <a:ext cx="527184" cy="45657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807367" y="2532570"/>
            <a:ext cx="4914900" cy="1152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b="1" spc="110" dirty="0">
                <a:solidFill>
                  <a:srgbClr val="D9E1FF"/>
                </a:solidFill>
                <a:latin typeface="Trebuchet MS"/>
                <a:cs typeface="Trebuchet MS"/>
              </a:rPr>
              <a:t>Infrastructure</a:t>
            </a:r>
            <a:r>
              <a:rPr sz="1550" b="1" spc="-7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550" b="1" spc="204" dirty="0">
                <a:solidFill>
                  <a:srgbClr val="D9E1FF"/>
                </a:solidFill>
                <a:latin typeface="Trebuchet MS"/>
                <a:cs typeface="Trebuchet MS"/>
              </a:rPr>
              <a:t>Impact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37000"/>
              </a:lnSpc>
              <a:spcBef>
                <a:spcPts val="590"/>
              </a:spcBef>
            </a:pP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Geographic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analysis</a:t>
            </a:r>
            <a:r>
              <a:rPr sz="1300" spc="3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reveals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that</a:t>
            </a:r>
            <a:r>
              <a:rPr sz="1300" spc="3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states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with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superior</a:t>
            </a:r>
            <a:r>
              <a:rPr sz="1300" spc="3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high-speed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internet</a:t>
            </a:r>
            <a:r>
              <a:rPr sz="130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access</a:t>
            </a:r>
            <a:r>
              <a:rPr sz="130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robust</a:t>
            </a:r>
            <a:r>
              <a:rPr sz="130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digital</a:t>
            </a:r>
            <a:r>
              <a:rPr sz="130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infrastructure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report</a:t>
            </a:r>
            <a:r>
              <a:rPr sz="130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significantly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better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digital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learning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resilience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scores.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6043" y="4073037"/>
            <a:ext cx="527685" cy="455295"/>
            <a:chOff x="646043" y="4073037"/>
            <a:chExt cx="527685" cy="455295"/>
          </a:xfrm>
        </p:grpSpPr>
        <p:sp>
          <p:nvSpPr>
            <p:cNvPr id="14" name="object 14"/>
            <p:cNvSpPr/>
            <p:nvPr/>
          </p:nvSpPr>
          <p:spPr>
            <a:xfrm>
              <a:off x="657225" y="4084218"/>
              <a:ext cx="504825" cy="433070"/>
            </a:xfrm>
            <a:custGeom>
              <a:avLst/>
              <a:gdLst/>
              <a:ahLst/>
              <a:cxnLst/>
              <a:rect l="l" t="t" r="r" b="b"/>
              <a:pathLst>
                <a:path w="504825" h="433070">
                  <a:moveTo>
                    <a:pt x="63052" y="134289"/>
                  </a:moveTo>
                  <a:lnTo>
                    <a:pt x="67259" y="174760"/>
                  </a:lnTo>
                  <a:lnTo>
                    <a:pt x="89877" y="209247"/>
                  </a:lnTo>
                  <a:lnTo>
                    <a:pt x="129308" y="229989"/>
                  </a:lnTo>
                  <a:lnTo>
                    <a:pt x="152905" y="232041"/>
                  </a:lnTo>
                  <a:lnTo>
                    <a:pt x="159914" y="230957"/>
                  </a:lnTo>
                  <a:lnTo>
                    <a:pt x="198403" y="214096"/>
                  </a:lnTo>
                  <a:lnTo>
                    <a:pt x="224651" y="180860"/>
                  </a:lnTo>
                  <a:lnTo>
                    <a:pt x="230524" y="134125"/>
                  </a:lnTo>
                  <a:lnTo>
                    <a:pt x="230544" y="114528"/>
                  </a:lnTo>
                  <a:lnTo>
                    <a:pt x="230296" y="109423"/>
                  </a:lnTo>
                  <a:lnTo>
                    <a:pt x="216758" y="72466"/>
                  </a:lnTo>
                  <a:lnTo>
                    <a:pt x="186809" y="45148"/>
                  </a:lnTo>
                  <a:lnTo>
                    <a:pt x="149573" y="35530"/>
                  </a:lnTo>
                  <a:lnTo>
                    <a:pt x="143126" y="35566"/>
                  </a:lnTo>
                  <a:lnTo>
                    <a:pt x="99819" y="49352"/>
                  </a:lnTo>
                  <a:lnTo>
                    <a:pt x="73263" y="78257"/>
                  </a:lnTo>
                  <a:lnTo>
                    <a:pt x="63225" y="120454"/>
                  </a:lnTo>
                  <a:lnTo>
                    <a:pt x="63052" y="134289"/>
                  </a:lnTo>
                </a:path>
                <a:path w="504825" h="433070">
                  <a:moveTo>
                    <a:pt x="205393" y="124790"/>
                  </a:moveTo>
                  <a:lnTo>
                    <a:pt x="199577" y="120764"/>
                  </a:lnTo>
                  <a:lnTo>
                    <a:pt x="193953" y="118313"/>
                  </a:lnTo>
                  <a:lnTo>
                    <a:pt x="187915" y="117462"/>
                  </a:lnTo>
                  <a:lnTo>
                    <a:pt x="175860" y="117551"/>
                  </a:lnTo>
                  <a:lnTo>
                    <a:pt x="171832" y="117894"/>
                  </a:lnTo>
                  <a:lnTo>
                    <a:pt x="167054" y="119380"/>
                  </a:lnTo>
                  <a:lnTo>
                    <a:pt x="165060" y="120865"/>
                  </a:lnTo>
                  <a:lnTo>
                    <a:pt x="162589" y="123291"/>
                  </a:lnTo>
                  <a:lnTo>
                    <a:pt x="159632" y="126669"/>
                  </a:lnTo>
                </a:path>
                <a:path w="504825" h="433070">
                  <a:moveTo>
                    <a:pt x="133156" y="128257"/>
                  </a:moveTo>
                  <a:lnTo>
                    <a:pt x="112017" y="117335"/>
                  </a:lnTo>
                  <a:lnTo>
                    <a:pt x="101942" y="117602"/>
                  </a:lnTo>
                  <a:lnTo>
                    <a:pt x="95905" y="119278"/>
                  </a:lnTo>
                  <a:lnTo>
                    <a:pt x="93806" y="120548"/>
                  </a:lnTo>
                  <a:lnTo>
                    <a:pt x="91921" y="122275"/>
                  </a:lnTo>
                  <a:lnTo>
                    <a:pt x="88101" y="128282"/>
                  </a:lnTo>
                </a:path>
                <a:path w="504825" h="433070">
                  <a:moveTo>
                    <a:pt x="297596" y="416445"/>
                  </a:moveTo>
                  <a:lnTo>
                    <a:pt x="279048" y="432269"/>
                  </a:lnTo>
                  <a:lnTo>
                    <a:pt x="265841" y="432638"/>
                  </a:lnTo>
                </a:path>
                <a:path w="504825" h="433070">
                  <a:moveTo>
                    <a:pt x="20444" y="432612"/>
                  </a:moveTo>
                  <a:lnTo>
                    <a:pt x="283" y="411518"/>
                  </a:lnTo>
                  <a:lnTo>
                    <a:pt x="143" y="407543"/>
                  </a:lnTo>
                </a:path>
                <a:path w="504825" h="433070">
                  <a:moveTo>
                    <a:pt x="0" y="352171"/>
                  </a:moveTo>
                  <a:lnTo>
                    <a:pt x="273" y="341172"/>
                  </a:lnTo>
                </a:path>
                <a:path w="504825" h="433070">
                  <a:moveTo>
                    <a:pt x="205292" y="245643"/>
                  </a:moveTo>
                  <a:lnTo>
                    <a:pt x="182835" y="279400"/>
                  </a:lnTo>
                  <a:lnTo>
                    <a:pt x="147275" y="299732"/>
                  </a:lnTo>
                  <a:lnTo>
                    <a:pt x="139928" y="298996"/>
                  </a:lnTo>
                  <a:lnTo>
                    <a:pt x="104189" y="270471"/>
                  </a:lnTo>
                  <a:lnTo>
                    <a:pt x="93366" y="253185"/>
                  </a:lnTo>
                  <a:lnTo>
                    <a:pt x="89446" y="246532"/>
                  </a:lnTo>
                </a:path>
                <a:path w="504825" h="433070">
                  <a:moveTo>
                    <a:pt x="488473" y="0"/>
                  </a:moveTo>
                  <a:lnTo>
                    <a:pt x="504487" y="14795"/>
                  </a:lnTo>
                  <a:lnTo>
                    <a:pt x="504825" y="24955"/>
                  </a:lnTo>
                </a:path>
                <a:path w="504825" h="433070">
                  <a:moveTo>
                    <a:pt x="504666" y="250253"/>
                  </a:moveTo>
                  <a:lnTo>
                    <a:pt x="487492" y="272465"/>
                  </a:lnTo>
                  <a:lnTo>
                    <a:pt x="483482" y="272542"/>
                  </a:lnTo>
                </a:path>
                <a:path w="504825" h="433070">
                  <a:moveTo>
                    <a:pt x="395321" y="272859"/>
                  </a:moveTo>
                  <a:lnTo>
                    <a:pt x="383586" y="272583"/>
                  </a:lnTo>
                  <a:lnTo>
                    <a:pt x="368785" y="272381"/>
                  </a:lnTo>
                  <a:lnTo>
                    <a:pt x="350919" y="272254"/>
                  </a:lnTo>
                  <a:lnTo>
                    <a:pt x="329986" y="272199"/>
                  </a:lnTo>
                </a:path>
                <a:path w="504825" h="433070">
                  <a:moveTo>
                    <a:pt x="88101" y="128282"/>
                  </a:moveTo>
                  <a:lnTo>
                    <a:pt x="63153" y="128244"/>
                  </a:lnTo>
                </a:path>
                <a:path w="504825" h="433070">
                  <a:moveTo>
                    <a:pt x="132715" y="128397"/>
                  </a:moveTo>
                  <a:lnTo>
                    <a:pt x="133245" y="130111"/>
                  </a:lnTo>
                  <a:lnTo>
                    <a:pt x="133568" y="131864"/>
                  </a:lnTo>
                  <a:lnTo>
                    <a:pt x="133692" y="133642"/>
                  </a:lnTo>
                  <a:lnTo>
                    <a:pt x="133811" y="135432"/>
                  </a:lnTo>
                  <a:lnTo>
                    <a:pt x="133722" y="137210"/>
                  </a:lnTo>
                  <a:lnTo>
                    <a:pt x="129292" y="148755"/>
                  </a:lnTo>
                  <a:lnTo>
                    <a:pt x="128230" y="150202"/>
                  </a:lnTo>
                  <a:lnTo>
                    <a:pt x="121196" y="155625"/>
                  </a:lnTo>
                  <a:lnTo>
                    <a:pt x="119598" y="156438"/>
                  </a:lnTo>
                  <a:lnTo>
                    <a:pt x="117925" y="157048"/>
                  </a:lnTo>
                  <a:lnTo>
                    <a:pt x="116184" y="157467"/>
                  </a:lnTo>
                  <a:lnTo>
                    <a:pt x="114438" y="157886"/>
                  </a:lnTo>
                  <a:lnTo>
                    <a:pt x="112673" y="158102"/>
                  </a:lnTo>
                  <a:lnTo>
                    <a:pt x="110877" y="158102"/>
                  </a:lnTo>
                  <a:lnTo>
                    <a:pt x="109086" y="158115"/>
                  </a:lnTo>
                  <a:lnTo>
                    <a:pt x="100548" y="155676"/>
                  </a:lnTo>
                  <a:lnTo>
                    <a:pt x="98940" y="154876"/>
                  </a:lnTo>
                  <a:lnTo>
                    <a:pt x="92412" y="148856"/>
                  </a:lnTo>
                  <a:lnTo>
                    <a:pt x="91346" y="147421"/>
                  </a:lnTo>
                  <a:lnTo>
                    <a:pt x="90458" y="145884"/>
                  </a:lnTo>
                  <a:lnTo>
                    <a:pt x="89748" y="144233"/>
                  </a:lnTo>
                  <a:lnTo>
                    <a:pt x="89038" y="142582"/>
                  </a:lnTo>
                  <a:lnTo>
                    <a:pt x="88532" y="140881"/>
                  </a:lnTo>
                  <a:lnTo>
                    <a:pt x="88225" y="139115"/>
                  </a:lnTo>
                  <a:lnTo>
                    <a:pt x="87918" y="137350"/>
                  </a:lnTo>
                  <a:lnTo>
                    <a:pt x="87817" y="135559"/>
                  </a:lnTo>
                  <a:lnTo>
                    <a:pt x="87927" y="133769"/>
                  </a:lnTo>
                  <a:lnTo>
                    <a:pt x="88036" y="131991"/>
                  </a:lnTo>
                  <a:lnTo>
                    <a:pt x="88353" y="130238"/>
                  </a:lnTo>
                  <a:lnTo>
                    <a:pt x="88874" y="128511"/>
                  </a:lnTo>
                </a:path>
                <a:path w="504825" h="433070">
                  <a:moveTo>
                    <a:pt x="158169" y="128358"/>
                  </a:moveTo>
                  <a:lnTo>
                    <a:pt x="133156" y="128257"/>
                  </a:lnTo>
                </a:path>
                <a:path w="504825" h="433070">
                  <a:moveTo>
                    <a:pt x="204340" y="128574"/>
                  </a:moveTo>
                  <a:lnTo>
                    <a:pt x="204857" y="130276"/>
                  </a:lnTo>
                  <a:lnTo>
                    <a:pt x="205169" y="132029"/>
                  </a:lnTo>
                  <a:lnTo>
                    <a:pt x="205284" y="133807"/>
                  </a:lnTo>
                  <a:lnTo>
                    <a:pt x="205393" y="135585"/>
                  </a:lnTo>
                  <a:lnTo>
                    <a:pt x="205292" y="137350"/>
                  </a:lnTo>
                  <a:lnTo>
                    <a:pt x="204990" y="139103"/>
                  </a:lnTo>
                  <a:lnTo>
                    <a:pt x="204688" y="140868"/>
                  </a:lnTo>
                  <a:lnTo>
                    <a:pt x="200839" y="148805"/>
                  </a:lnTo>
                  <a:lnTo>
                    <a:pt x="199777" y="150241"/>
                  </a:lnTo>
                  <a:lnTo>
                    <a:pt x="198567" y="151536"/>
                  </a:lnTo>
                  <a:lnTo>
                    <a:pt x="197201" y="152679"/>
                  </a:lnTo>
                  <a:lnTo>
                    <a:pt x="195842" y="153835"/>
                  </a:lnTo>
                  <a:lnTo>
                    <a:pt x="194364" y="154813"/>
                  </a:lnTo>
                  <a:lnTo>
                    <a:pt x="192772" y="155613"/>
                  </a:lnTo>
                  <a:lnTo>
                    <a:pt x="191179" y="156413"/>
                  </a:lnTo>
                  <a:lnTo>
                    <a:pt x="189518" y="157022"/>
                  </a:lnTo>
                  <a:lnTo>
                    <a:pt x="187780" y="157441"/>
                  </a:lnTo>
                  <a:lnTo>
                    <a:pt x="186049" y="157848"/>
                  </a:lnTo>
                  <a:lnTo>
                    <a:pt x="184288" y="158064"/>
                  </a:lnTo>
                  <a:lnTo>
                    <a:pt x="182507" y="158064"/>
                  </a:lnTo>
                  <a:lnTo>
                    <a:pt x="180727" y="158064"/>
                  </a:lnTo>
                  <a:lnTo>
                    <a:pt x="164147" y="148856"/>
                  </a:lnTo>
                  <a:lnTo>
                    <a:pt x="163085" y="147434"/>
                  </a:lnTo>
                  <a:lnTo>
                    <a:pt x="162198" y="145897"/>
                  </a:lnTo>
                  <a:lnTo>
                    <a:pt x="161493" y="144259"/>
                  </a:lnTo>
                  <a:lnTo>
                    <a:pt x="160784" y="142621"/>
                  </a:lnTo>
                  <a:lnTo>
                    <a:pt x="160277" y="140931"/>
                  </a:lnTo>
                  <a:lnTo>
                    <a:pt x="159970" y="139166"/>
                  </a:lnTo>
                  <a:lnTo>
                    <a:pt x="159663" y="137414"/>
                  </a:lnTo>
                  <a:lnTo>
                    <a:pt x="159558" y="135648"/>
                  </a:lnTo>
                  <a:lnTo>
                    <a:pt x="159663" y="133870"/>
                  </a:lnTo>
                  <a:lnTo>
                    <a:pt x="159767" y="132092"/>
                  </a:lnTo>
                  <a:lnTo>
                    <a:pt x="160079" y="130340"/>
                  </a:lnTo>
                  <a:lnTo>
                    <a:pt x="160590" y="128638"/>
                  </a:lnTo>
                </a:path>
                <a:path w="504825" h="433070">
                  <a:moveTo>
                    <a:pt x="230484" y="128752"/>
                  </a:moveTo>
                  <a:lnTo>
                    <a:pt x="210567" y="128371"/>
                  </a:lnTo>
                </a:path>
                <a:path w="504825" h="433070">
                  <a:moveTo>
                    <a:pt x="265841" y="432638"/>
                  </a:moveTo>
                  <a:lnTo>
                    <a:pt x="20444" y="432612"/>
                  </a:lnTo>
                </a:path>
                <a:path w="504825" h="433070">
                  <a:moveTo>
                    <a:pt x="297596" y="416445"/>
                  </a:moveTo>
                  <a:lnTo>
                    <a:pt x="296748" y="335229"/>
                  </a:lnTo>
                </a:path>
                <a:path w="504825" h="433070">
                  <a:moveTo>
                    <a:pt x="143" y="407543"/>
                  </a:moveTo>
                  <a:lnTo>
                    <a:pt x="0" y="352171"/>
                  </a:lnTo>
                </a:path>
                <a:path w="504825" h="433070">
                  <a:moveTo>
                    <a:pt x="152295" y="711"/>
                  </a:moveTo>
                  <a:lnTo>
                    <a:pt x="488473" y="0"/>
                  </a:lnTo>
                </a:path>
                <a:path w="504825" h="433070">
                  <a:moveTo>
                    <a:pt x="297606" y="417652"/>
                  </a:moveTo>
                  <a:lnTo>
                    <a:pt x="454962" y="154762"/>
                  </a:lnTo>
                </a:path>
                <a:path w="504825" h="433070">
                  <a:moveTo>
                    <a:pt x="504825" y="24955"/>
                  </a:moveTo>
                  <a:lnTo>
                    <a:pt x="504666" y="250253"/>
                  </a:lnTo>
                </a:path>
              </a:pathLst>
            </a:custGeom>
            <a:ln w="22362">
              <a:solidFill>
                <a:srgbClr val="7F6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312" y="4318883"/>
              <a:ext cx="114130" cy="11169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053" y="4319429"/>
              <a:ext cx="111783" cy="11711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52546" y="4356760"/>
              <a:ext cx="88265" cy="635"/>
            </a:xfrm>
            <a:custGeom>
              <a:avLst/>
              <a:gdLst/>
              <a:ahLst/>
              <a:cxnLst/>
              <a:rect l="l" t="t" r="r" b="b"/>
              <a:pathLst>
                <a:path w="88265" h="635">
                  <a:moveTo>
                    <a:pt x="88160" y="0"/>
                  </a:moveTo>
                  <a:lnTo>
                    <a:pt x="0" y="317"/>
                  </a:lnTo>
                </a:path>
              </a:pathLst>
            </a:custGeom>
            <a:ln w="22362">
              <a:solidFill>
                <a:srgbClr val="7F6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1846" y="4732845"/>
            <a:ext cx="4867910" cy="1152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550" b="1" spc="135" dirty="0">
                <a:solidFill>
                  <a:srgbClr val="D9E1FF"/>
                </a:solidFill>
                <a:latin typeface="Trebuchet MS"/>
                <a:cs typeface="Trebuchet MS"/>
              </a:rPr>
              <a:t>Policy</a:t>
            </a:r>
            <a:r>
              <a:rPr sz="1550" b="1" spc="-8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550" b="1" spc="165" dirty="0">
                <a:solidFill>
                  <a:srgbClr val="D9E1FF"/>
                </a:solidFill>
                <a:latin typeface="Trebuchet MS"/>
                <a:cs typeface="Trebuchet MS"/>
              </a:rPr>
              <a:t>Ambivalence</a:t>
            </a:r>
            <a:endParaRPr sz="1550">
              <a:latin typeface="Trebuchet MS"/>
              <a:cs typeface="Trebuchet MS"/>
            </a:endParaRPr>
          </a:p>
          <a:p>
            <a:pPr marL="12700" marR="5080" algn="just">
              <a:lnSpc>
                <a:spcPct val="134600"/>
              </a:lnSpc>
              <a:spcBef>
                <a:spcPts val="700"/>
              </a:spcBef>
            </a:pP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Survey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data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shows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an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almost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equal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divide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(49%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vs.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51%)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among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faculty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members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regarding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allowance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of</a:t>
            </a:r>
            <a:r>
              <a:rPr sz="1300" spc="-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tools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in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academic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submissions,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highlighting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clear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need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for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institutional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guidance.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08590" y="4048065"/>
            <a:ext cx="527685" cy="505459"/>
            <a:chOff x="5808590" y="4048065"/>
            <a:chExt cx="527685" cy="505459"/>
          </a:xfrm>
        </p:grpSpPr>
        <p:sp>
          <p:nvSpPr>
            <p:cNvPr id="20" name="object 20"/>
            <p:cNvSpPr/>
            <p:nvPr/>
          </p:nvSpPr>
          <p:spPr>
            <a:xfrm>
              <a:off x="6091338" y="4059250"/>
              <a:ext cx="233679" cy="204470"/>
            </a:xfrm>
            <a:custGeom>
              <a:avLst/>
              <a:gdLst/>
              <a:ahLst/>
              <a:cxnLst/>
              <a:rect l="l" t="t" r="r" b="b"/>
              <a:pathLst>
                <a:path w="233679" h="204470">
                  <a:moveTo>
                    <a:pt x="97917" y="165125"/>
                  </a:moveTo>
                  <a:lnTo>
                    <a:pt x="142139" y="163201"/>
                  </a:lnTo>
                  <a:lnTo>
                    <a:pt x="180023" y="152831"/>
                  </a:lnTo>
                  <a:lnTo>
                    <a:pt x="211925" y="130873"/>
                  </a:lnTo>
                  <a:lnTo>
                    <a:pt x="232156" y="94703"/>
                  </a:lnTo>
                  <a:lnTo>
                    <a:pt x="233490" y="81940"/>
                  </a:lnTo>
                  <a:lnTo>
                    <a:pt x="233083" y="75577"/>
                  </a:lnTo>
                  <a:lnTo>
                    <a:pt x="214973" y="37553"/>
                  </a:lnTo>
                  <a:lnTo>
                    <a:pt x="181826" y="13771"/>
                  </a:lnTo>
                  <a:lnTo>
                    <a:pt x="138267" y="1703"/>
                  </a:lnTo>
                  <a:lnTo>
                    <a:pt x="120117" y="0"/>
                  </a:lnTo>
                  <a:lnTo>
                    <a:pt x="109819" y="187"/>
                  </a:lnTo>
                  <a:lnTo>
                    <a:pt x="67995" y="6689"/>
                  </a:lnTo>
                  <a:lnTo>
                    <a:pt x="33376" y="23524"/>
                  </a:lnTo>
                  <a:lnTo>
                    <a:pt x="6494" y="54799"/>
                  </a:lnTo>
                  <a:lnTo>
                    <a:pt x="0" y="80870"/>
                  </a:lnTo>
                  <a:lnTo>
                    <a:pt x="286" y="87580"/>
                  </a:lnTo>
                  <a:lnTo>
                    <a:pt x="15202" y="123621"/>
                  </a:lnTo>
                  <a:lnTo>
                    <a:pt x="47371" y="150545"/>
                  </a:lnTo>
                  <a:lnTo>
                    <a:pt x="46374" y="158204"/>
                  </a:lnTo>
                  <a:lnTo>
                    <a:pt x="44704" y="166028"/>
                  </a:lnTo>
                  <a:lnTo>
                    <a:pt x="42549" y="173607"/>
                  </a:lnTo>
                  <a:lnTo>
                    <a:pt x="40094" y="180530"/>
                  </a:lnTo>
                  <a:lnTo>
                    <a:pt x="28690" y="204419"/>
                  </a:lnTo>
                </a:path>
                <a:path w="233679" h="204470">
                  <a:moveTo>
                    <a:pt x="97917" y="165125"/>
                  </a:moveTo>
                  <a:lnTo>
                    <a:pt x="46990" y="196418"/>
                  </a:lnTo>
                  <a:lnTo>
                    <a:pt x="28690" y="204419"/>
                  </a:lnTo>
                </a:path>
              </a:pathLst>
            </a:custGeom>
            <a:ln w="22368">
              <a:solidFill>
                <a:srgbClr val="7F6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1709" y="4097278"/>
              <a:ext cx="207636" cy="20764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819851" y="4419256"/>
              <a:ext cx="312420" cy="123189"/>
            </a:xfrm>
            <a:custGeom>
              <a:avLst/>
              <a:gdLst/>
              <a:ahLst/>
              <a:cxnLst/>
              <a:rect l="l" t="t" r="r" b="b"/>
              <a:pathLst>
                <a:path w="312420" h="123189">
                  <a:moveTo>
                    <a:pt x="312026" y="122542"/>
                  </a:moveTo>
                  <a:lnTo>
                    <a:pt x="310819" y="0"/>
                  </a:lnTo>
                </a:path>
                <a:path w="312420" h="123189">
                  <a:moveTo>
                    <a:pt x="312026" y="122542"/>
                  </a:moveTo>
                  <a:lnTo>
                    <a:pt x="0" y="122351"/>
                  </a:lnTo>
                </a:path>
                <a:path w="312420" h="123189">
                  <a:moveTo>
                    <a:pt x="66027" y="41579"/>
                  </a:moveTo>
                  <a:lnTo>
                    <a:pt x="66014" y="122567"/>
                  </a:lnTo>
                </a:path>
              </a:pathLst>
            </a:custGeom>
            <a:ln w="22368">
              <a:solidFill>
                <a:srgbClr val="7F6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08590" y="4322855"/>
              <a:ext cx="333290" cy="22993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807367" y="4732845"/>
            <a:ext cx="4793615" cy="1152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b="1" spc="105" dirty="0">
                <a:solidFill>
                  <a:srgbClr val="D9E1FF"/>
                </a:solidFill>
                <a:latin typeface="Trebuchet MS"/>
                <a:cs typeface="Trebuchet MS"/>
              </a:rPr>
              <a:t>Tool</a:t>
            </a:r>
            <a:r>
              <a:rPr sz="1550" b="1" spc="-90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550" b="1" spc="125" dirty="0">
                <a:solidFill>
                  <a:srgbClr val="D9E1FF"/>
                </a:solidFill>
                <a:latin typeface="Trebuchet MS"/>
                <a:cs typeface="Trebuchet MS"/>
              </a:rPr>
              <a:t>Preference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34600"/>
              </a:lnSpc>
              <a:spcBef>
                <a:spcPts val="700"/>
              </a:spcBef>
            </a:pP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Generative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models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dominate:</a:t>
            </a:r>
            <a:r>
              <a:rPr sz="1300" spc="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analysis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confirmed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D9E1FF"/>
                </a:solidFill>
                <a:latin typeface="Arial MT"/>
                <a:cs typeface="Arial MT"/>
              </a:rPr>
              <a:t>that </a:t>
            </a:r>
            <a:r>
              <a:rPr sz="1300" b="1" dirty="0">
                <a:solidFill>
                  <a:srgbClr val="D9E1FF"/>
                </a:solidFill>
                <a:latin typeface="Arial"/>
                <a:cs typeface="Arial"/>
              </a:rPr>
              <a:t>ChatGPT</a:t>
            </a:r>
            <a:r>
              <a:rPr sz="1300" b="1" spc="25" dirty="0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D9E1FF"/>
                </a:solidFill>
                <a:latin typeface="Arial"/>
                <a:cs typeface="Arial"/>
              </a:rPr>
              <a:t>and</a:t>
            </a:r>
            <a:r>
              <a:rPr sz="1300" b="1" spc="30" dirty="0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D9E1FF"/>
                </a:solidFill>
                <a:latin typeface="Arial"/>
                <a:cs typeface="Arial"/>
              </a:rPr>
              <a:t>Google</a:t>
            </a:r>
            <a:r>
              <a:rPr sz="1300" b="1" spc="30" dirty="0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D9E1FF"/>
                </a:solidFill>
                <a:latin typeface="Arial"/>
                <a:cs typeface="Arial"/>
              </a:rPr>
              <a:t>Gemini</a:t>
            </a:r>
            <a:r>
              <a:rPr sz="1300" b="1" spc="30" dirty="0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are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overwhelmingly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D9E1FF"/>
                </a:solidFill>
                <a:latin typeface="Arial MT"/>
                <a:cs typeface="Arial MT"/>
              </a:rPr>
              <a:t>most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frequently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used</a:t>
            </a:r>
            <a:r>
              <a:rPr sz="1300" spc="-6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tools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across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surveyed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student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population.</a:t>
            </a:r>
            <a:endParaRPr sz="1300">
              <a:latin typeface="Arial MT"/>
              <a:cs typeface="Arial MT"/>
            </a:endParaRPr>
          </a:p>
        </p:txBody>
      </p:sp>
      <p:pic>
        <p:nvPicPr>
          <p:cNvPr id="25" name="object 25">
            <a:hlinkClick r:id="rId9"/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CD25F77-29BA-F73D-2368-2C7103BA0F02}"/>
              </a:ext>
            </a:extLst>
          </p:cNvPr>
          <p:cNvSpPr/>
          <p:nvPr/>
        </p:nvSpPr>
        <p:spPr>
          <a:xfrm>
            <a:off x="9525000" y="5926073"/>
            <a:ext cx="1809748" cy="428422"/>
          </a:xfrm>
          <a:prstGeom prst="rect">
            <a:avLst/>
          </a:prstGeom>
          <a:solidFill>
            <a:srgbClr val="0C0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1846" y="705104"/>
            <a:ext cx="96850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245" dirty="0"/>
              <a:t>Actionable</a:t>
            </a:r>
            <a:r>
              <a:rPr sz="2600" spc="-135" dirty="0"/>
              <a:t> </a:t>
            </a:r>
            <a:r>
              <a:rPr sz="2600" spc="345" dirty="0"/>
              <a:t>Recommendations</a:t>
            </a:r>
            <a:r>
              <a:rPr sz="2600" spc="-140" dirty="0"/>
              <a:t> </a:t>
            </a:r>
            <a:r>
              <a:rPr sz="2600" spc="140" dirty="0"/>
              <a:t>for</a:t>
            </a:r>
            <a:r>
              <a:rPr sz="2600" spc="-135" dirty="0"/>
              <a:t> </a:t>
            </a:r>
            <a:r>
              <a:rPr sz="2600" spc="295" dirty="0"/>
              <a:t>Education</a:t>
            </a:r>
            <a:r>
              <a:rPr sz="2600" spc="-135" dirty="0"/>
              <a:t> </a:t>
            </a:r>
            <a:r>
              <a:rPr sz="2600" spc="265" dirty="0"/>
              <a:t>Leaders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1542478"/>
            <a:ext cx="211023" cy="1816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2618803"/>
            <a:ext cx="211023" cy="1816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3685603"/>
            <a:ext cx="211023" cy="1816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4761928"/>
            <a:ext cx="211023" cy="18167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7558" y="1498727"/>
            <a:ext cx="5441950" cy="4009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150" dirty="0">
                <a:solidFill>
                  <a:srgbClr val="D9E1FF"/>
                </a:solidFill>
                <a:latin typeface="Trebuchet MS"/>
                <a:cs typeface="Trebuchet MS"/>
              </a:rPr>
              <a:t>Promote</a:t>
            </a:r>
            <a:r>
              <a:rPr sz="1300" b="1" spc="-80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300" b="1" spc="125" dirty="0">
                <a:solidFill>
                  <a:srgbClr val="D9E1FF"/>
                </a:solidFill>
                <a:latin typeface="Trebuchet MS"/>
                <a:cs typeface="Trebuchet MS"/>
              </a:rPr>
              <a:t>AI</a:t>
            </a:r>
            <a:r>
              <a:rPr sz="1300" b="1" spc="-80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300" b="1" spc="105" dirty="0">
                <a:solidFill>
                  <a:srgbClr val="D9E1FF"/>
                </a:solidFill>
                <a:latin typeface="Trebuchet MS"/>
                <a:cs typeface="Trebuchet MS"/>
              </a:rPr>
              <a:t>Literacy</a:t>
            </a:r>
            <a:r>
              <a:rPr sz="1300" b="1" spc="-7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300" b="1" spc="145" dirty="0">
                <a:solidFill>
                  <a:srgbClr val="D9E1FF"/>
                </a:solidFill>
                <a:latin typeface="Trebuchet MS"/>
                <a:cs typeface="Trebuchet MS"/>
              </a:rPr>
              <a:t>Proąrams</a:t>
            </a:r>
            <a:endParaRPr sz="1300">
              <a:latin typeface="Trebuchet MS"/>
              <a:cs typeface="Trebuchet MS"/>
            </a:endParaRPr>
          </a:p>
          <a:p>
            <a:pPr marL="12700" marR="207645">
              <a:lnSpc>
                <a:spcPct val="136400"/>
              </a:lnSpc>
              <a:spcBef>
                <a:spcPts val="855"/>
              </a:spcBef>
            </a:pP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Invest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in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structured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programs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that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teach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ethical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use,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prompt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engineering,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critical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evaluation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of</a:t>
            </a:r>
            <a:r>
              <a:rPr sz="1100" spc="-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outputs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to enhance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overall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student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engagement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trust.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b="1" spc="120" dirty="0">
                <a:solidFill>
                  <a:srgbClr val="D9E1FF"/>
                </a:solidFill>
                <a:latin typeface="Trebuchet MS"/>
                <a:cs typeface="Trebuchet MS"/>
              </a:rPr>
              <a:t>Establish</a:t>
            </a:r>
            <a:r>
              <a:rPr sz="1300" b="1" spc="-60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300" b="1" spc="110" dirty="0">
                <a:solidFill>
                  <a:srgbClr val="D9E1FF"/>
                </a:solidFill>
                <a:latin typeface="Trebuchet MS"/>
                <a:cs typeface="Trebuchet MS"/>
              </a:rPr>
              <a:t>Ethical</a:t>
            </a:r>
            <a:r>
              <a:rPr sz="1300" b="1" spc="-60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300" b="1" spc="180" dirty="0">
                <a:solidFill>
                  <a:srgbClr val="D9E1FF"/>
                </a:solidFill>
                <a:latin typeface="Trebuchet MS"/>
                <a:cs typeface="Trebuchet MS"/>
              </a:rPr>
              <a:t>Use</a:t>
            </a:r>
            <a:r>
              <a:rPr sz="1300" b="1" spc="-60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300" b="1" spc="85" dirty="0">
                <a:solidFill>
                  <a:srgbClr val="D9E1FF"/>
                </a:solidFill>
                <a:latin typeface="Trebuchet MS"/>
                <a:cs typeface="Trebuchet MS"/>
              </a:rPr>
              <a:t>Policies</a:t>
            </a:r>
            <a:endParaRPr sz="1300">
              <a:latin typeface="Trebuchet MS"/>
              <a:cs typeface="Trebuchet MS"/>
            </a:endParaRPr>
          </a:p>
          <a:p>
            <a:pPr marL="12700" marR="67310">
              <a:lnSpc>
                <a:spcPct val="130700"/>
              </a:lnSpc>
              <a:spcBef>
                <a:spcPts val="935"/>
              </a:spcBef>
            </a:pP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Develop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communicate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clear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institutional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policies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that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define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acceptable</a:t>
            </a:r>
            <a:r>
              <a:rPr sz="1100" spc="-7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tool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D9E1FF"/>
                </a:solidFill>
                <a:latin typeface="Arial MT"/>
                <a:cs typeface="Arial MT"/>
              </a:rPr>
              <a:t>use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in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academics,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providing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both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students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faculty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with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necessary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boundaries.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b="1" spc="175" dirty="0">
                <a:solidFill>
                  <a:srgbClr val="D9E1FF"/>
                </a:solidFill>
                <a:latin typeface="Trebuchet MS"/>
                <a:cs typeface="Trebuchet MS"/>
              </a:rPr>
              <a:t>Enhance</a:t>
            </a:r>
            <a:r>
              <a:rPr sz="1300" b="1" spc="-6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300" b="1" spc="85" dirty="0">
                <a:solidFill>
                  <a:srgbClr val="D9E1FF"/>
                </a:solidFill>
                <a:latin typeface="Trebuchet MS"/>
                <a:cs typeface="Trebuchet MS"/>
              </a:rPr>
              <a:t>Diąital</a:t>
            </a:r>
            <a:r>
              <a:rPr sz="1300" b="1" spc="-6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300" b="1" spc="80" dirty="0">
                <a:solidFill>
                  <a:srgbClr val="D9E1FF"/>
                </a:solidFill>
                <a:latin typeface="Trebuchet MS"/>
                <a:cs typeface="Trebuchet MS"/>
              </a:rPr>
              <a:t>Infrastructure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ct val="130700"/>
              </a:lnSpc>
              <a:spcBef>
                <a:spcPts val="1010"/>
              </a:spcBef>
            </a:pP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Prioritize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funding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for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high-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speed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internet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computing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resources,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especially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D9E1FF"/>
                </a:solidFill>
                <a:latin typeface="Arial MT"/>
                <a:cs typeface="Arial MT"/>
              </a:rPr>
              <a:t>in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underserved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regions,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to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ensure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equitable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access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support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digital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learning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resilience.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b="1" spc="125" dirty="0">
                <a:solidFill>
                  <a:srgbClr val="D9E1FF"/>
                </a:solidFill>
                <a:latin typeface="Trebuchet MS"/>
                <a:cs typeface="Trebuchet MS"/>
              </a:rPr>
              <a:t>Develop</a:t>
            </a:r>
            <a:r>
              <a:rPr sz="1300" b="1" spc="-114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300" b="1" spc="110" dirty="0">
                <a:solidFill>
                  <a:srgbClr val="D9E1FF"/>
                </a:solidFill>
                <a:latin typeface="Trebuchet MS"/>
                <a:cs typeface="Trebuchet MS"/>
              </a:rPr>
              <a:t>Tarąeted</a:t>
            </a:r>
            <a:r>
              <a:rPr sz="1300" b="1" spc="-5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300" b="1" spc="130" dirty="0">
                <a:solidFill>
                  <a:srgbClr val="D9E1FF"/>
                </a:solidFill>
                <a:latin typeface="Trebuchet MS"/>
                <a:cs typeface="Trebuchet MS"/>
              </a:rPr>
              <a:t>Content</a:t>
            </a:r>
            <a:endParaRPr sz="1300">
              <a:latin typeface="Trebuchet MS"/>
              <a:cs typeface="Trebuchet MS"/>
            </a:endParaRPr>
          </a:p>
          <a:p>
            <a:pPr marL="12700" marR="153035">
              <a:lnSpc>
                <a:spcPct val="130700"/>
              </a:lnSpc>
              <a:spcBef>
                <a:spcPts val="1010"/>
              </a:spcBef>
            </a:pP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Utilize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engagement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persona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data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to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create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custom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educational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modules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aimed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D9E1FF"/>
                </a:solidFill>
                <a:latin typeface="Arial MT"/>
                <a:cs typeface="Arial MT"/>
              </a:rPr>
              <a:t>at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student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groups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identified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with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low</a:t>
            </a:r>
            <a:r>
              <a:rPr sz="1100" spc="-6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AI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awareness or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low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D9E1FF"/>
                </a:solidFill>
                <a:latin typeface="Arial MT"/>
                <a:cs typeface="Arial MT"/>
              </a:rPr>
              <a:t>trust</a:t>
            </a:r>
            <a:r>
              <a:rPr sz="1100" spc="-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D9E1FF"/>
                </a:solidFill>
                <a:latin typeface="Arial MT"/>
                <a:cs typeface="Arial MT"/>
              </a:rPr>
              <a:t>levels.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9" name="object 9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C24A803-F173-BFC0-A55D-0804DA476D5C}"/>
              </a:ext>
            </a:extLst>
          </p:cNvPr>
          <p:cNvSpPr/>
          <p:nvPr/>
        </p:nvSpPr>
        <p:spPr>
          <a:xfrm>
            <a:off x="9580244" y="5926073"/>
            <a:ext cx="1754504" cy="419100"/>
          </a:xfrm>
          <a:prstGeom prst="rect">
            <a:avLst/>
          </a:prstGeom>
          <a:solidFill>
            <a:srgbClr val="0C0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25"/>
            <a:ext cx="11430000" cy="6429375"/>
            <a:chOff x="0" y="9525"/>
            <a:chExt cx="11430000" cy="6429375"/>
          </a:xfrm>
        </p:grpSpPr>
        <p:sp>
          <p:nvSpPr>
            <p:cNvPr id="3" name="object 3"/>
            <p:cNvSpPr/>
            <p:nvPr/>
          </p:nvSpPr>
          <p:spPr>
            <a:xfrm>
              <a:off x="4286250" y="9525"/>
              <a:ext cx="7143750" cy="6429375"/>
            </a:xfrm>
            <a:custGeom>
              <a:avLst/>
              <a:gdLst/>
              <a:ahLst/>
              <a:cxnLst/>
              <a:rect l="l" t="t" r="r" b="b"/>
              <a:pathLst>
                <a:path w="7143750" h="6429375">
                  <a:moveTo>
                    <a:pt x="0" y="6429375"/>
                  </a:moveTo>
                  <a:lnTo>
                    <a:pt x="7143750" y="6429375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6429375"/>
                  </a:lnTo>
                  <a:close/>
                </a:path>
              </a:pathLst>
            </a:custGeom>
            <a:solidFill>
              <a:srgbClr val="0C09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525"/>
              <a:ext cx="4286250" cy="6429375"/>
            </a:xfrm>
            <a:custGeom>
              <a:avLst/>
              <a:gdLst/>
              <a:ahLst/>
              <a:cxnLst/>
              <a:rect l="l" t="t" r="r" b="b"/>
              <a:pathLst>
                <a:path w="4286250" h="6429375">
                  <a:moveTo>
                    <a:pt x="4286250" y="0"/>
                  </a:moveTo>
                  <a:lnTo>
                    <a:pt x="0" y="0"/>
                  </a:lnTo>
                  <a:lnTo>
                    <a:pt x="0" y="6429375"/>
                  </a:lnTo>
                  <a:lnTo>
                    <a:pt x="4286250" y="6429375"/>
                  </a:lnTo>
                  <a:lnTo>
                    <a:pt x="4286250" y="0"/>
                  </a:lnTo>
                  <a:close/>
                </a:path>
              </a:pathLst>
            </a:custGeom>
            <a:solidFill>
              <a:srgbClr val="4D4D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19300" y="3031337"/>
              <a:ext cx="321945" cy="236220"/>
            </a:xfrm>
            <a:custGeom>
              <a:avLst/>
              <a:gdLst/>
              <a:ahLst/>
              <a:cxnLst/>
              <a:rect l="l" t="t" r="r" b="b"/>
              <a:pathLst>
                <a:path w="321944" h="236220">
                  <a:moveTo>
                    <a:pt x="278612" y="0"/>
                  </a:moveTo>
                  <a:lnTo>
                    <a:pt x="42862" y="0"/>
                  </a:lnTo>
                  <a:lnTo>
                    <a:pt x="26188" y="3371"/>
                  </a:lnTo>
                  <a:lnTo>
                    <a:pt x="12563" y="12563"/>
                  </a:lnTo>
                  <a:lnTo>
                    <a:pt x="3371" y="26188"/>
                  </a:lnTo>
                  <a:lnTo>
                    <a:pt x="0" y="42862"/>
                  </a:lnTo>
                  <a:lnTo>
                    <a:pt x="0" y="192874"/>
                  </a:lnTo>
                  <a:lnTo>
                    <a:pt x="3371" y="209543"/>
                  </a:lnTo>
                  <a:lnTo>
                    <a:pt x="12563" y="223169"/>
                  </a:lnTo>
                  <a:lnTo>
                    <a:pt x="26188" y="232363"/>
                  </a:lnTo>
                  <a:lnTo>
                    <a:pt x="42862" y="235737"/>
                  </a:lnTo>
                  <a:lnTo>
                    <a:pt x="278612" y="235737"/>
                  </a:lnTo>
                  <a:lnTo>
                    <a:pt x="295280" y="232363"/>
                  </a:lnTo>
                  <a:lnTo>
                    <a:pt x="308906" y="223169"/>
                  </a:lnTo>
                  <a:lnTo>
                    <a:pt x="318101" y="209543"/>
                  </a:lnTo>
                  <a:lnTo>
                    <a:pt x="321475" y="192874"/>
                  </a:lnTo>
                  <a:lnTo>
                    <a:pt x="63487" y="192874"/>
                  </a:lnTo>
                  <a:lnTo>
                    <a:pt x="57861" y="189318"/>
                  </a:lnTo>
                  <a:lnTo>
                    <a:pt x="52501" y="178206"/>
                  </a:lnTo>
                  <a:lnTo>
                    <a:pt x="53238" y="171577"/>
                  </a:lnTo>
                  <a:lnTo>
                    <a:pt x="99987" y="113182"/>
                  </a:lnTo>
                  <a:lnTo>
                    <a:pt x="103009" y="109359"/>
                  </a:lnTo>
                  <a:lnTo>
                    <a:pt x="107619" y="107149"/>
                  </a:lnTo>
                  <a:lnTo>
                    <a:pt x="150332" y="107149"/>
                  </a:lnTo>
                  <a:lnTo>
                    <a:pt x="164614" y="85725"/>
                  </a:lnTo>
                  <a:lnTo>
                    <a:pt x="82880" y="85725"/>
                  </a:lnTo>
                  <a:lnTo>
                    <a:pt x="80149" y="85178"/>
                  </a:lnTo>
                  <a:lnTo>
                    <a:pt x="64300" y="67132"/>
                  </a:lnTo>
                  <a:lnTo>
                    <a:pt x="64300" y="61442"/>
                  </a:lnTo>
                  <a:lnTo>
                    <a:pt x="82880" y="42862"/>
                  </a:lnTo>
                  <a:lnTo>
                    <a:pt x="321475" y="42862"/>
                  </a:lnTo>
                  <a:lnTo>
                    <a:pt x="318101" y="26188"/>
                  </a:lnTo>
                  <a:lnTo>
                    <a:pt x="308906" y="12563"/>
                  </a:lnTo>
                  <a:lnTo>
                    <a:pt x="295280" y="3371"/>
                  </a:lnTo>
                  <a:lnTo>
                    <a:pt x="278612" y="0"/>
                  </a:lnTo>
                  <a:close/>
                </a:path>
                <a:path w="321944" h="236220">
                  <a:moveTo>
                    <a:pt x="321475" y="64287"/>
                  </a:moveTo>
                  <a:lnTo>
                    <a:pt x="192887" y="64287"/>
                  </a:lnTo>
                  <a:lnTo>
                    <a:pt x="197904" y="66967"/>
                  </a:lnTo>
                  <a:lnTo>
                    <a:pt x="200914" y="71450"/>
                  </a:lnTo>
                  <a:lnTo>
                    <a:pt x="268490" y="172783"/>
                  </a:lnTo>
                  <a:lnTo>
                    <a:pt x="268782" y="178206"/>
                  </a:lnTo>
                  <a:lnTo>
                    <a:pt x="268833" y="179146"/>
                  </a:lnTo>
                  <a:lnTo>
                    <a:pt x="263207" y="189585"/>
                  </a:lnTo>
                  <a:lnTo>
                    <a:pt x="257771" y="192874"/>
                  </a:lnTo>
                  <a:lnTo>
                    <a:pt x="321475" y="192874"/>
                  </a:lnTo>
                  <a:lnTo>
                    <a:pt x="321475" y="64287"/>
                  </a:lnTo>
                  <a:close/>
                </a:path>
                <a:path w="321944" h="236220">
                  <a:moveTo>
                    <a:pt x="150332" y="107149"/>
                  </a:moveTo>
                  <a:lnTo>
                    <a:pt x="117398" y="107149"/>
                  </a:lnTo>
                  <a:lnTo>
                    <a:pt x="121958" y="109359"/>
                  </a:lnTo>
                  <a:lnTo>
                    <a:pt x="136626" y="127711"/>
                  </a:lnTo>
                  <a:lnTo>
                    <a:pt x="150332" y="107149"/>
                  </a:lnTo>
                  <a:close/>
                </a:path>
                <a:path w="321944" h="236220">
                  <a:moveTo>
                    <a:pt x="321475" y="42862"/>
                  </a:moveTo>
                  <a:lnTo>
                    <a:pt x="88569" y="42862"/>
                  </a:lnTo>
                  <a:lnTo>
                    <a:pt x="91300" y="43395"/>
                  </a:lnTo>
                  <a:lnTo>
                    <a:pt x="96545" y="45580"/>
                  </a:lnTo>
                  <a:lnTo>
                    <a:pt x="107162" y="61442"/>
                  </a:lnTo>
                  <a:lnTo>
                    <a:pt x="107162" y="67132"/>
                  </a:lnTo>
                  <a:lnTo>
                    <a:pt x="88569" y="85725"/>
                  </a:lnTo>
                  <a:lnTo>
                    <a:pt x="164614" y="85725"/>
                  </a:lnTo>
                  <a:lnTo>
                    <a:pt x="174129" y="71450"/>
                  </a:lnTo>
                  <a:lnTo>
                    <a:pt x="177028" y="67132"/>
                  </a:lnTo>
                  <a:lnTo>
                    <a:pt x="177139" y="66967"/>
                  </a:lnTo>
                  <a:lnTo>
                    <a:pt x="182168" y="64287"/>
                  </a:lnTo>
                  <a:lnTo>
                    <a:pt x="321475" y="64287"/>
                  </a:lnTo>
                  <a:lnTo>
                    <a:pt x="321475" y="42862"/>
                  </a:lnTo>
                  <a:close/>
                </a:path>
              </a:pathLst>
            </a:custGeom>
            <a:solidFill>
              <a:srgbClr val="65656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5012" y="3074200"/>
              <a:ext cx="333375" cy="257175"/>
            </a:xfrm>
            <a:custGeom>
              <a:avLst/>
              <a:gdLst/>
              <a:ahLst/>
              <a:cxnLst/>
              <a:rect l="l" t="t" r="r" b="b"/>
              <a:pathLst>
                <a:path w="333375" h="257175">
                  <a:moveTo>
                    <a:pt x="24968" y="0"/>
                  </a:moveTo>
                  <a:lnTo>
                    <a:pt x="7162" y="0"/>
                  </a:lnTo>
                  <a:lnTo>
                    <a:pt x="0" y="7162"/>
                  </a:lnTo>
                  <a:lnTo>
                    <a:pt x="0" y="166090"/>
                  </a:lnTo>
                  <a:lnTo>
                    <a:pt x="7157" y="201539"/>
                  </a:lnTo>
                  <a:lnTo>
                    <a:pt x="26676" y="230492"/>
                  </a:lnTo>
                  <a:lnTo>
                    <a:pt x="55624" y="250015"/>
                  </a:lnTo>
                  <a:lnTo>
                    <a:pt x="91071" y="257175"/>
                  </a:lnTo>
                  <a:lnTo>
                    <a:pt x="314299" y="257175"/>
                  </a:lnTo>
                  <a:lnTo>
                    <a:pt x="321446" y="250015"/>
                  </a:lnTo>
                  <a:lnTo>
                    <a:pt x="321462" y="232181"/>
                  </a:lnTo>
                  <a:lnTo>
                    <a:pt x="314299" y="225018"/>
                  </a:lnTo>
                  <a:lnTo>
                    <a:pt x="91071" y="225018"/>
                  </a:lnTo>
                  <a:lnTo>
                    <a:pt x="68132" y="220388"/>
                  </a:lnTo>
                  <a:lnTo>
                    <a:pt x="49401" y="207760"/>
                  </a:lnTo>
                  <a:lnTo>
                    <a:pt x="36773" y="189030"/>
                  </a:lnTo>
                  <a:lnTo>
                    <a:pt x="32143" y="166090"/>
                  </a:lnTo>
                  <a:lnTo>
                    <a:pt x="32143" y="7162"/>
                  </a:lnTo>
                  <a:lnTo>
                    <a:pt x="24968" y="0"/>
                  </a:lnTo>
                  <a:close/>
                </a:path>
                <a:path w="333375" h="257175">
                  <a:moveTo>
                    <a:pt x="181686" y="64287"/>
                  </a:moveTo>
                  <a:lnTo>
                    <a:pt x="171907" y="64287"/>
                  </a:lnTo>
                  <a:lnTo>
                    <a:pt x="167297" y="66497"/>
                  </a:lnTo>
                  <a:lnTo>
                    <a:pt x="164274" y="70319"/>
                  </a:lnTo>
                  <a:lnTo>
                    <a:pt x="117525" y="128714"/>
                  </a:lnTo>
                  <a:lnTo>
                    <a:pt x="116789" y="135343"/>
                  </a:lnTo>
                  <a:lnTo>
                    <a:pt x="122148" y="146456"/>
                  </a:lnTo>
                  <a:lnTo>
                    <a:pt x="127774" y="150012"/>
                  </a:lnTo>
                  <a:lnTo>
                    <a:pt x="322059" y="150012"/>
                  </a:lnTo>
                  <a:lnTo>
                    <a:pt x="327494" y="146723"/>
                  </a:lnTo>
                  <a:lnTo>
                    <a:pt x="333121" y="136283"/>
                  </a:lnTo>
                  <a:lnTo>
                    <a:pt x="332778" y="129921"/>
                  </a:lnTo>
                  <a:lnTo>
                    <a:pt x="302711" y="84848"/>
                  </a:lnTo>
                  <a:lnTo>
                    <a:pt x="200914" y="84848"/>
                  </a:lnTo>
                  <a:lnTo>
                    <a:pt x="186245" y="66497"/>
                  </a:lnTo>
                  <a:lnTo>
                    <a:pt x="181686" y="64287"/>
                  </a:lnTo>
                  <a:close/>
                </a:path>
                <a:path w="333375" h="257175">
                  <a:moveTo>
                    <a:pt x="257175" y="21424"/>
                  </a:moveTo>
                  <a:lnTo>
                    <a:pt x="246456" y="21424"/>
                  </a:lnTo>
                  <a:lnTo>
                    <a:pt x="241427" y="24104"/>
                  </a:lnTo>
                  <a:lnTo>
                    <a:pt x="238417" y="28587"/>
                  </a:lnTo>
                  <a:lnTo>
                    <a:pt x="200914" y="84848"/>
                  </a:lnTo>
                  <a:lnTo>
                    <a:pt x="302711" y="84848"/>
                  </a:lnTo>
                  <a:lnTo>
                    <a:pt x="265201" y="28587"/>
                  </a:lnTo>
                  <a:lnTo>
                    <a:pt x="262191" y="24104"/>
                  </a:lnTo>
                  <a:lnTo>
                    <a:pt x="257175" y="21424"/>
                  </a:lnTo>
                  <a:close/>
                </a:path>
              </a:pathLst>
            </a:custGeom>
            <a:solidFill>
              <a:srgbClr val="6565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204" rIns="0" bIns="0" rtlCol="0">
            <a:spAutoFit/>
          </a:bodyPr>
          <a:lstStyle/>
          <a:p>
            <a:pPr marL="4298315" marR="5080">
              <a:lnSpc>
                <a:spcPts val="3900"/>
              </a:lnSpc>
              <a:spcBef>
                <a:spcPts val="40"/>
              </a:spcBef>
            </a:pPr>
            <a:r>
              <a:rPr spc="290" dirty="0"/>
              <a:t>Conclusion:</a:t>
            </a:r>
            <a:r>
              <a:rPr spc="-155" dirty="0"/>
              <a:t> </a:t>
            </a:r>
            <a:r>
              <a:rPr spc="220" dirty="0"/>
              <a:t>Visualiziną</a:t>
            </a:r>
            <a:r>
              <a:rPr spc="-150" dirty="0"/>
              <a:t> </a:t>
            </a:r>
            <a:r>
              <a:rPr spc="235" dirty="0"/>
              <a:t>the </a:t>
            </a:r>
            <a:r>
              <a:rPr spc="400" dirty="0"/>
              <a:t>Path</a:t>
            </a:r>
            <a:r>
              <a:rPr spc="-185" dirty="0"/>
              <a:t> </a:t>
            </a:r>
            <a:r>
              <a:rPr spc="315" dirty="0"/>
              <a:t>Forward</a:t>
            </a:r>
          </a:p>
        </p:txBody>
      </p:sp>
      <p:sp>
        <p:nvSpPr>
          <p:cNvPr id="8" name="object 8"/>
          <p:cNvSpPr/>
          <p:nvPr/>
        </p:nvSpPr>
        <p:spPr>
          <a:xfrm>
            <a:off x="4943475" y="1990724"/>
            <a:ext cx="2828925" cy="2038350"/>
          </a:xfrm>
          <a:custGeom>
            <a:avLst/>
            <a:gdLst/>
            <a:ahLst/>
            <a:cxnLst/>
            <a:rect l="l" t="t" r="r" b="b"/>
            <a:pathLst>
              <a:path w="2828925" h="2038350">
                <a:moveTo>
                  <a:pt x="2828925" y="0"/>
                </a:moveTo>
                <a:lnTo>
                  <a:pt x="336626" y="0"/>
                </a:lnTo>
                <a:lnTo>
                  <a:pt x="328363" y="101"/>
                </a:lnTo>
                <a:lnTo>
                  <a:pt x="287235" y="3643"/>
                </a:lnTo>
                <a:lnTo>
                  <a:pt x="246851" y="12190"/>
                </a:lnTo>
                <a:lnTo>
                  <a:pt x="207810" y="25628"/>
                </a:lnTo>
                <a:lnTo>
                  <a:pt x="170703" y="43734"/>
                </a:lnTo>
                <a:lnTo>
                  <a:pt x="136097" y="66243"/>
                </a:lnTo>
                <a:lnTo>
                  <a:pt x="104507" y="92823"/>
                </a:lnTo>
                <a:lnTo>
                  <a:pt x="76415" y="123075"/>
                </a:lnTo>
                <a:lnTo>
                  <a:pt x="52225" y="156535"/>
                </a:lnTo>
                <a:lnTo>
                  <a:pt x="32323" y="192703"/>
                </a:lnTo>
                <a:lnTo>
                  <a:pt x="16988" y="231032"/>
                </a:lnTo>
                <a:lnTo>
                  <a:pt x="6464" y="270954"/>
                </a:lnTo>
                <a:lnTo>
                  <a:pt x="916" y="311865"/>
                </a:lnTo>
                <a:lnTo>
                  <a:pt x="0" y="336626"/>
                </a:lnTo>
                <a:lnTo>
                  <a:pt x="0" y="2038350"/>
                </a:lnTo>
                <a:lnTo>
                  <a:pt x="2492298" y="2038350"/>
                </a:lnTo>
                <a:lnTo>
                  <a:pt x="2500561" y="2038247"/>
                </a:lnTo>
                <a:lnTo>
                  <a:pt x="2541689" y="2034705"/>
                </a:lnTo>
                <a:lnTo>
                  <a:pt x="2582073" y="2026160"/>
                </a:lnTo>
                <a:lnTo>
                  <a:pt x="2621114" y="2012721"/>
                </a:lnTo>
                <a:lnTo>
                  <a:pt x="2658221" y="1994615"/>
                </a:lnTo>
                <a:lnTo>
                  <a:pt x="2692827" y="1972100"/>
                </a:lnTo>
                <a:lnTo>
                  <a:pt x="2724412" y="1945519"/>
                </a:lnTo>
                <a:lnTo>
                  <a:pt x="2752509" y="1915274"/>
                </a:lnTo>
                <a:lnTo>
                  <a:pt x="2776699" y="1881814"/>
                </a:lnTo>
                <a:lnTo>
                  <a:pt x="2796601" y="1845646"/>
                </a:lnTo>
                <a:lnTo>
                  <a:pt x="2811936" y="1807317"/>
                </a:lnTo>
                <a:lnTo>
                  <a:pt x="2822460" y="1767395"/>
                </a:lnTo>
                <a:lnTo>
                  <a:pt x="2828008" y="1726484"/>
                </a:lnTo>
                <a:lnTo>
                  <a:pt x="2828925" y="1701723"/>
                </a:lnTo>
                <a:lnTo>
                  <a:pt x="2828925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96268" y="2132520"/>
            <a:ext cx="2428240" cy="1419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b="1" spc="114" dirty="0">
                <a:solidFill>
                  <a:srgbClr val="D9E1FF"/>
                </a:solidFill>
                <a:latin typeface="Trebuchet MS"/>
                <a:cs typeface="Trebuchet MS"/>
              </a:rPr>
              <a:t>Visualization</a:t>
            </a:r>
            <a:r>
              <a:rPr sz="1550" b="1" spc="-4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550" b="1" spc="204" dirty="0">
                <a:solidFill>
                  <a:srgbClr val="D9E1FF"/>
                </a:solidFill>
                <a:latin typeface="Trebuchet MS"/>
                <a:cs typeface="Trebuchet MS"/>
              </a:rPr>
              <a:t>Impact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34600"/>
              </a:lnSpc>
              <a:spcBef>
                <a:spcPts val="700"/>
              </a:spcBef>
            </a:pP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dashboard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successfully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converted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complex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engagement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adoption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data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into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clear,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easy-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to-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interpret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visual</a:t>
            </a:r>
            <a:r>
              <a:rPr sz="1300" spc="3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patterns.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43850" y="1990724"/>
            <a:ext cx="2828925" cy="2038350"/>
          </a:xfrm>
          <a:custGeom>
            <a:avLst/>
            <a:gdLst/>
            <a:ahLst/>
            <a:cxnLst/>
            <a:rect l="l" t="t" r="r" b="b"/>
            <a:pathLst>
              <a:path w="2828925" h="2038350">
                <a:moveTo>
                  <a:pt x="2828925" y="0"/>
                </a:moveTo>
                <a:lnTo>
                  <a:pt x="336626" y="0"/>
                </a:lnTo>
                <a:lnTo>
                  <a:pt x="328363" y="101"/>
                </a:lnTo>
                <a:lnTo>
                  <a:pt x="287235" y="3643"/>
                </a:lnTo>
                <a:lnTo>
                  <a:pt x="246851" y="12190"/>
                </a:lnTo>
                <a:lnTo>
                  <a:pt x="207810" y="25628"/>
                </a:lnTo>
                <a:lnTo>
                  <a:pt x="170703" y="43734"/>
                </a:lnTo>
                <a:lnTo>
                  <a:pt x="136097" y="66243"/>
                </a:lnTo>
                <a:lnTo>
                  <a:pt x="104507" y="92823"/>
                </a:lnTo>
                <a:lnTo>
                  <a:pt x="76415" y="123075"/>
                </a:lnTo>
                <a:lnTo>
                  <a:pt x="52225" y="156535"/>
                </a:lnTo>
                <a:lnTo>
                  <a:pt x="32323" y="192703"/>
                </a:lnTo>
                <a:lnTo>
                  <a:pt x="16988" y="231032"/>
                </a:lnTo>
                <a:lnTo>
                  <a:pt x="6464" y="270954"/>
                </a:lnTo>
                <a:lnTo>
                  <a:pt x="916" y="311865"/>
                </a:lnTo>
                <a:lnTo>
                  <a:pt x="0" y="336626"/>
                </a:lnTo>
                <a:lnTo>
                  <a:pt x="0" y="2038350"/>
                </a:lnTo>
                <a:lnTo>
                  <a:pt x="2492298" y="2038350"/>
                </a:lnTo>
                <a:lnTo>
                  <a:pt x="2500561" y="2038247"/>
                </a:lnTo>
                <a:lnTo>
                  <a:pt x="2541689" y="2034705"/>
                </a:lnTo>
                <a:lnTo>
                  <a:pt x="2582073" y="2026160"/>
                </a:lnTo>
                <a:lnTo>
                  <a:pt x="2621114" y="2012721"/>
                </a:lnTo>
                <a:lnTo>
                  <a:pt x="2658221" y="1994615"/>
                </a:lnTo>
                <a:lnTo>
                  <a:pt x="2692822" y="1972100"/>
                </a:lnTo>
                <a:lnTo>
                  <a:pt x="2724412" y="1945519"/>
                </a:lnTo>
                <a:lnTo>
                  <a:pt x="2752509" y="1915274"/>
                </a:lnTo>
                <a:lnTo>
                  <a:pt x="2776699" y="1881814"/>
                </a:lnTo>
                <a:lnTo>
                  <a:pt x="2796601" y="1845646"/>
                </a:lnTo>
                <a:lnTo>
                  <a:pt x="2811936" y="1807317"/>
                </a:lnTo>
                <a:lnTo>
                  <a:pt x="2822460" y="1767395"/>
                </a:lnTo>
                <a:lnTo>
                  <a:pt x="2828008" y="1726484"/>
                </a:lnTo>
                <a:lnTo>
                  <a:pt x="2828925" y="1701723"/>
                </a:lnTo>
                <a:lnTo>
                  <a:pt x="2828925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97684" y="2132520"/>
            <a:ext cx="2388870" cy="1695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b="1" spc="160" dirty="0">
                <a:solidFill>
                  <a:srgbClr val="D9E1FF"/>
                </a:solidFill>
                <a:latin typeface="Trebuchet MS"/>
                <a:cs typeface="Trebuchet MS"/>
              </a:rPr>
              <a:t>Key</a:t>
            </a:r>
            <a:r>
              <a:rPr sz="1550" b="1" spc="-8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550" b="1" spc="125" dirty="0">
                <a:solidFill>
                  <a:srgbClr val="D9E1FF"/>
                </a:solidFill>
                <a:latin typeface="Trebuchet MS"/>
                <a:cs typeface="Trebuchet MS"/>
              </a:rPr>
              <a:t>Insiąhts</a:t>
            </a:r>
            <a:r>
              <a:rPr sz="1550" b="1" spc="-8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550" b="1" spc="110" dirty="0">
                <a:solidFill>
                  <a:srgbClr val="D9E1FF"/>
                </a:solidFill>
                <a:latin typeface="Trebuchet MS"/>
                <a:cs typeface="Trebuchet MS"/>
              </a:rPr>
              <a:t>Delivered</a:t>
            </a:r>
            <a:endParaRPr sz="1550">
              <a:latin typeface="Trebuchet MS"/>
              <a:cs typeface="Trebuchet MS"/>
            </a:endParaRPr>
          </a:p>
          <a:p>
            <a:pPr marL="12700" marR="76835">
              <a:lnSpc>
                <a:spcPct val="135800"/>
              </a:lnSpc>
              <a:spcBef>
                <a:spcPts val="685"/>
              </a:spcBef>
            </a:pP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Critical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data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was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generated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regarding</a:t>
            </a:r>
            <a:r>
              <a:rPr sz="130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student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preferences,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institutional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readiness,</a:t>
            </a:r>
            <a:r>
              <a:rPr sz="1300" spc="1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D9E1FF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direct</a:t>
            </a:r>
            <a:r>
              <a:rPr sz="130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correlation</a:t>
            </a:r>
            <a:r>
              <a:rPr sz="1300" spc="1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between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awareness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trust.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3475" y="4191000"/>
            <a:ext cx="5829300" cy="1495425"/>
          </a:xfrm>
          <a:custGeom>
            <a:avLst/>
            <a:gdLst/>
            <a:ahLst/>
            <a:cxnLst/>
            <a:rect l="l" t="t" r="r" b="b"/>
            <a:pathLst>
              <a:path w="5829300" h="1495425">
                <a:moveTo>
                  <a:pt x="5829300" y="0"/>
                </a:moveTo>
                <a:lnTo>
                  <a:pt x="336626" y="0"/>
                </a:lnTo>
                <a:lnTo>
                  <a:pt x="328363" y="101"/>
                </a:lnTo>
                <a:lnTo>
                  <a:pt x="287235" y="3643"/>
                </a:lnTo>
                <a:lnTo>
                  <a:pt x="246851" y="12190"/>
                </a:lnTo>
                <a:lnTo>
                  <a:pt x="207810" y="25628"/>
                </a:lnTo>
                <a:lnTo>
                  <a:pt x="170703" y="43734"/>
                </a:lnTo>
                <a:lnTo>
                  <a:pt x="136097" y="66243"/>
                </a:lnTo>
                <a:lnTo>
                  <a:pt x="104507" y="92823"/>
                </a:lnTo>
                <a:lnTo>
                  <a:pt x="76415" y="123075"/>
                </a:lnTo>
                <a:lnTo>
                  <a:pt x="52225" y="156535"/>
                </a:lnTo>
                <a:lnTo>
                  <a:pt x="32323" y="192703"/>
                </a:lnTo>
                <a:lnTo>
                  <a:pt x="16988" y="231032"/>
                </a:lnTo>
                <a:lnTo>
                  <a:pt x="6464" y="270954"/>
                </a:lnTo>
                <a:lnTo>
                  <a:pt x="916" y="311865"/>
                </a:lnTo>
                <a:lnTo>
                  <a:pt x="0" y="336626"/>
                </a:lnTo>
                <a:lnTo>
                  <a:pt x="0" y="1495426"/>
                </a:lnTo>
                <a:lnTo>
                  <a:pt x="5492673" y="1495426"/>
                </a:lnTo>
                <a:lnTo>
                  <a:pt x="5500936" y="1495324"/>
                </a:lnTo>
                <a:lnTo>
                  <a:pt x="5542064" y="1491780"/>
                </a:lnTo>
                <a:lnTo>
                  <a:pt x="5582448" y="1483231"/>
                </a:lnTo>
                <a:lnTo>
                  <a:pt x="5621489" y="1469797"/>
                </a:lnTo>
                <a:lnTo>
                  <a:pt x="5658596" y="1451688"/>
                </a:lnTo>
                <a:lnTo>
                  <a:pt x="5693197" y="1429178"/>
                </a:lnTo>
                <a:lnTo>
                  <a:pt x="5724787" y="1402598"/>
                </a:lnTo>
                <a:lnTo>
                  <a:pt x="5752884" y="1372350"/>
                </a:lnTo>
                <a:lnTo>
                  <a:pt x="5777074" y="1338888"/>
                </a:lnTo>
                <a:lnTo>
                  <a:pt x="5796976" y="1302722"/>
                </a:lnTo>
                <a:lnTo>
                  <a:pt x="5812311" y="1264391"/>
                </a:lnTo>
                <a:lnTo>
                  <a:pt x="5822835" y="1224469"/>
                </a:lnTo>
                <a:lnTo>
                  <a:pt x="5828383" y="1183557"/>
                </a:lnTo>
                <a:lnTo>
                  <a:pt x="5829300" y="1158796"/>
                </a:lnTo>
                <a:lnTo>
                  <a:pt x="5829300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96268" y="4332795"/>
            <a:ext cx="4799965" cy="1152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550" b="1" spc="225" dirty="0">
                <a:solidFill>
                  <a:srgbClr val="D9E1FF"/>
                </a:solidFill>
                <a:latin typeface="Trebuchet MS"/>
                <a:cs typeface="Trebuchet MS"/>
              </a:rPr>
              <a:t>Team</a:t>
            </a:r>
            <a:r>
              <a:rPr sz="1550" b="1" spc="-85" dirty="0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sz="1550" b="1" spc="165" dirty="0">
                <a:solidFill>
                  <a:srgbClr val="D9E1FF"/>
                </a:solidFill>
                <a:latin typeface="Trebuchet MS"/>
                <a:cs typeface="Trebuchet MS"/>
              </a:rPr>
              <a:t>Growth</a:t>
            </a:r>
            <a:endParaRPr sz="1550">
              <a:latin typeface="Trebuchet MS"/>
              <a:cs typeface="Trebuchet MS"/>
            </a:endParaRPr>
          </a:p>
          <a:p>
            <a:pPr marL="12700" marR="5080" algn="just">
              <a:lnSpc>
                <a:spcPct val="134600"/>
              </a:lnSpc>
              <a:spcBef>
                <a:spcPts val="700"/>
              </a:spcBef>
            </a:pP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The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project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significantly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strengthened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our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D9E1FF"/>
                </a:solidFill>
                <a:latin typeface="Arial MT"/>
                <a:cs typeface="Arial MT"/>
              </a:rPr>
              <a:t>team9s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abilities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in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D9E1FF"/>
                </a:solidFill>
                <a:latin typeface="Arial MT"/>
                <a:cs typeface="Arial MT"/>
              </a:rPr>
              <a:t>data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storytelling,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cleaning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complex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datasets,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and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mastering</a:t>
            </a:r>
            <a:r>
              <a:rPr sz="1300" spc="20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9E1FF"/>
                </a:solidFill>
                <a:latin typeface="Arial MT"/>
                <a:cs typeface="Arial MT"/>
              </a:rPr>
              <a:t>Power</a:t>
            </a:r>
            <a:r>
              <a:rPr sz="1300" spc="25" dirty="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D9E1FF"/>
                </a:solidFill>
                <a:latin typeface="Arial MT"/>
                <a:cs typeface="Arial MT"/>
              </a:rPr>
              <a:t>BI </a:t>
            </a:r>
            <a:r>
              <a:rPr sz="1300" spc="-10" dirty="0">
                <a:solidFill>
                  <a:srgbClr val="D9E1FF"/>
                </a:solidFill>
                <a:latin typeface="Arial MT"/>
                <a:cs typeface="Arial MT"/>
              </a:rPr>
              <a:t>development.</a:t>
            </a:r>
            <a:endParaRPr sz="1300">
              <a:latin typeface="Arial MT"/>
              <a:cs typeface="Arial MT"/>
            </a:endParaRPr>
          </a:p>
        </p:txBody>
      </p:sp>
      <p:pic>
        <p:nvPicPr>
          <p:cNvPr id="14" name="object 1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497359-F37F-80CB-9749-843D797A02D4}"/>
              </a:ext>
            </a:extLst>
          </p:cNvPr>
          <p:cNvSpPr/>
          <p:nvPr/>
        </p:nvSpPr>
        <p:spPr>
          <a:xfrm>
            <a:off x="9580244" y="5926073"/>
            <a:ext cx="1754504" cy="419100"/>
          </a:xfrm>
          <a:prstGeom prst="rect">
            <a:avLst/>
          </a:prstGeom>
          <a:solidFill>
            <a:srgbClr val="0C0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 descr="A group of people working on a project&#10;&#10;AI-generated content may be incorrect.">
            <a:extLst>
              <a:ext uri="{FF2B5EF4-FFF2-40B4-BE49-F238E27FC236}">
                <a16:creationId xmlns:a16="http://schemas.microsoft.com/office/drawing/2014/main" id="{5019DC7B-6E5F-412A-A197-E965497C5A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2"/>
            <a:ext cx="11430000" cy="6429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E641C28-9451-16C3-DB9D-864C9E1856C5}"/>
              </a:ext>
            </a:extLst>
          </p:cNvPr>
          <p:cNvSpPr/>
          <p:nvPr/>
        </p:nvSpPr>
        <p:spPr>
          <a:xfrm>
            <a:off x="10287000" y="6057900"/>
            <a:ext cx="1143000" cy="381000"/>
          </a:xfrm>
          <a:prstGeom prst="rect">
            <a:avLst/>
          </a:prstGeom>
          <a:solidFill>
            <a:srgbClr val="0C0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728</Words>
  <Application>Microsoft Office PowerPoint</Application>
  <PresentationFormat>Custom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SimSun-ExtB</vt:lpstr>
      <vt:lpstr>Arial</vt:lpstr>
      <vt:lpstr>Arial MT</vt:lpstr>
      <vt:lpstr>Lucida Sans Unicode</vt:lpstr>
      <vt:lpstr>Trebuchet MS</vt:lpstr>
      <vt:lpstr>Office Theme</vt:lpstr>
      <vt:lpstr>AI Adoption &amp; Student Insiąhts Dashboard</vt:lpstr>
      <vt:lpstr>Objectives &amp; Rationale: Mappiną the AI- Education Landscape</vt:lpstr>
      <vt:lpstr>Data Understandiną &amp; Cleaniną Summary</vt:lpstr>
      <vt:lpstr>Dashboard Desiąn: Four Paąes for Comprehensive Insiąhts</vt:lpstr>
      <vt:lpstr>Key Insiąhts: Correlatiną Awareness, Access, and Adoption</vt:lpstr>
      <vt:lpstr>Actionable Recommendations for Education Leaders</vt:lpstr>
      <vt:lpstr>Conclusion: Visualiziną the Path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suhanaafrien@gmail.com</cp:lastModifiedBy>
  <cp:revision>1</cp:revision>
  <dcterms:created xsi:type="dcterms:W3CDTF">2025-11-04T02:55:03Z</dcterms:created>
  <dcterms:modified xsi:type="dcterms:W3CDTF">2025-11-04T04:05:10Z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2025-11-04T00:00:00Z</vt:filetime>
  </property>
  <property fmtid="{D5CDD505-2E9C-101B-9397-08002B2CF9AE}" pid="5" name="Producer">
    <vt:lpwstr>GPL Ghostscript 9.56.1</vt:lpwstr>
  </property>
</Properties>
</file>